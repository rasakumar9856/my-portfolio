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0.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43.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6.xml"/>
  <Override ContentType="application/vnd.openxmlformats-officedocument.presentationml.slide+xml" PartName="/ppt/slides/slide10.xml"/>
  <Override ContentType="application/vnd.openxmlformats-officedocument.presentationml.slide+xml" PartName="/ppt/slides/slide44.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presentationml.viewProps+xml" PartName="/ppt/viewProps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12192000"/>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extLst>
    <p:ext uri="{EFAFB233-063F-42B5-8137-9DF3F51BA10A}">
      <p15:sldGuideLst>
        <p15:guide id="1" orient="horz" pos="2160">
          <p15:clr>
            <a:srgbClr val="000000"/>
          </p15:clr>
        </p15:guide>
        <p15:guide id="2" pos="3840">
          <p15:clr>
            <a:srgbClr val="000000"/>
          </p15:clr>
        </p15:guide>
      </p15:sldGuideLst>
    </p:ext>
  </p:extLst>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1.xml><?xml version="1.0" encoding="utf-8"?>
<a:tblStyleLst xmlns:a="http://schemas.openxmlformats.org/drawingml/2006/main" xmlns:r="http://schemas.openxmlformats.org/officeDocument/2006/relationships" def="{90651C3A-4460-11DB-9652-00E08161165F}">
  <a:tblStyle styleId="{5C22544A-7EE6-4342-B048-85BDC9FD1C3A}" styleName="中度样式 2 - 强调 1">
    <a:wholeTbl>
      <a:tcTxStyle>
        <a:fontRef idx="minor">
          <a:prstClr val="black"/>
        </a:fontRef>
        <a:schemeClr val="dk1"/>
      </a:tcTxStyle>
      <a:tcStyle>
        <a:tcBdr>
          <a:left>
            <a:ln cmpd="sng" w="12700">
              <a:solidFill>
                <a:schemeClr val="lt1"/>
              </a:solidFill>
            </a:ln>
          </a:left>
          <a:right>
            <a:ln cmpd="sng" w="12700">
              <a:solidFill>
                <a:schemeClr val="lt1"/>
              </a:solidFill>
            </a:ln>
          </a:right>
          <a:top>
            <a:ln cmpd="sng" w="12700">
              <a:solidFill>
                <a:schemeClr val="lt1"/>
              </a:solidFill>
            </a:ln>
          </a:top>
          <a:bottom>
            <a:ln cmpd="sng" w="12700">
              <a:solidFill>
                <a:schemeClr val="lt1"/>
              </a:solidFill>
            </a:ln>
          </a:bottom>
          <a:insideH>
            <a:ln cmpd="sng" w="12700">
              <a:solidFill>
                <a:schemeClr val="lt1"/>
              </a:solidFill>
            </a:ln>
          </a:insideH>
          <a:insideV>
            <a:ln cmpd="sng"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cmpd="sng" w="38100">
              <a:solidFill>
                <a:schemeClr val="lt1"/>
              </a:solidFill>
            </a:ln>
          </a:top>
        </a:tcBdr>
        <a:fill>
          <a:solidFill>
            <a:schemeClr val="accent1"/>
          </a:solidFill>
        </a:fill>
      </a:tcStyle>
    </a:lastRow>
    <a:firstRow>
      <a:tcTxStyle b="on">
        <a:fontRef idx="minor">
          <a:prstClr val="black"/>
        </a:fontRef>
        <a:schemeClr val="lt1"/>
      </a:tcTxStyle>
      <a:tcStyle>
        <a:tcBdr>
          <a:bottom>
            <a:ln cmpd="sng" w="38100">
              <a:solidFill>
                <a:schemeClr val="lt1"/>
              </a:solidFill>
            </a:ln>
          </a:bottom>
        </a:tcBdr>
        <a:fill>
          <a:solidFill>
            <a:schemeClr val="accent1"/>
          </a:solidFill>
        </a:fill>
      </a:tcStyle>
    </a:firstRow>
  </a:tblStyle>
</a:tblStyleLst>
</file>

<file path=ppt/viewProps1.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7.xml"/><Relationship Id="rId22" Type="http://schemas.openxmlformats.org/officeDocument/2006/relationships/slide" Target="slides/slide19.xml"/><Relationship Id="rId21" Type="http://schemas.openxmlformats.org/officeDocument/2006/relationships/slide" Target="slides/slide18.xml"/><Relationship Id="rId24" Type="http://schemas.openxmlformats.org/officeDocument/2006/relationships/slide" Target="slides/slide44.xml"/><Relationship Id="rId23" Type="http://schemas.openxmlformats.org/officeDocument/2006/relationships/slide" Target="slides/slide43.xml"/><Relationship Id="rId1" Type="http://schemas.openxmlformats.org/officeDocument/2006/relationships/theme" Target="theme/theme1.xml"/><Relationship Id="rId2" Type="http://schemas.openxmlformats.org/officeDocument/2006/relationships/viewProps" Target="viewProps1.xml"/><Relationship Id="rId3" Type="http://schemas.openxmlformats.org/officeDocument/2006/relationships/presProps" Target="presProps1.xml"/><Relationship Id="rId4" Type="http://schemas.openxmlformats.org/officeDocument/2006/relationships/tableStyles" Target="tableStyles1.xml"/><Relationship Id="rId9" Type="http://schemas.openxmlformats.org/officeDocument/2006/relationships/slide" Target="slides/slide4.xml"/><Relationship Id="rId26" Type="http://schemas.openxmlformats.org/officeDocument/2006/relationships/slide" Target="slides/slide46.xml"/><Relationship Id="rId25" Type="http://schemas.openxmlformats.org/officeDocument/2006/relationships/slide" Target="slides/slide45.xml"/><Relationship Id="rId5" Type="http://schemas.openxmlformats.org/officeDocument/2006/relationships/slideMaster" Target="slideMasters/slide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8F27B79-0AA1-4623-B53C-A518DD09F4B9}" type="datetimeFigureOut">
              <a:rPr lang="en-US" smtClean="0"/>
              <a:pPr/>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E414B9-D454-4B59-B3B3-AED5A68885D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8F27B79-0AA1-4623-B53C-A518DD09F4B9}" type="datetimeFigureOut">
              <a:rPr lang="en-US" smtClean="0"/>
              <a:pPr/>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E414B9-D454-4B59-B3B3-AED5A68885D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F27B79-0AA1-4623-B53C-A518DD09F4B9}" type="datetimeFigureOut">
              <a:rPr lang="en-US" smtClean="0"/>
              <a:pPr/>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E414B9-D454-4B59-B3B3-AED5A68885D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8F27B79-0AA1-4623-B53C-A518DD09F4B9}" type="datetimeFigureOut">
              <a:rPr lang="en-US" smtClean="0"/>
              <a:pPr/>
              <a:t>4/26/2025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E414B9-D454-4B59-B3B3-AED5A68885D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8F27B79-0AA1-4623-B53C-A518DD09F4B9}" type="datetimeFigureOut">
              <a:rPr lang="en-US" smtClean="0"/>
              <a:pPr/>
              <a:t>4/26/2025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5E414B9-D454-4B59-B3B3-AED5A68885D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8F27B79-0AA1-4623-B53C-A518DD09F4B9}" type="datetimeFigureOut">
              <a:rPr lang="en-US" smtClean="0"/>
              <a:pPr/>
              <a:t>4/26/2025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5E414B9-D454-4B59-B3B3-AED5A68885D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F27B79-0AA1-4623-B53C-A518DD09F4B9}" type="datetimeFigureOut">
              <a:rPr lang="en-US" smtClean="0"/>
              <a:pPr/>
              <a:t>4/26/2025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5E414B9-D454-4B59-B3B3-AED5A68885D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27B79-0AA1-4623-B53C-A518DD09F4B9}" type="datetimeFigureOut">
              <a:rPr lang="en-US" smtClean="0"/>
              <a:pPr/>
              <a:t>4/26/2025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E414B9-D454-4B59-B3B3-AED5A68885D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27B79-0AA1-4623-B53C-A518DD09F4B9}" type="datetimeFigureOut">
              <a:rPr lang="en-US" smtClean="0"/>
              <a:pPr/>
              <a:t>4/26/2025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E414B9-D454-4B59-B3B3-AED5A68885D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8F27B79-0AA1-4623-B53C-A518DD09F4B9}" type="datetimeFigureOut">
              <a:rPr lang="en-US" smtClean="0"/>
              <a:pPr/>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E414B9-D454-4B59-B3B3-AED5A68885D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8F27B79-0AA1-4623-B53C-A518DD09F4B9}" type="datetimeFigureOut">
              <a:rPr lang="en-US" smtClean="0"/>
              <a:pPr/>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E414B9-D454-4B59-B3B3-AED5A68885D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F27B79-0AA1-4623-B53C-A518DD09F4B9}" type="datetimeFigureOut">
              <a:rPr lang="en-US" smtClean="0"/>
              <a:pPr/>
              <a:t>4/26/2025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E414B9-D454-4B59-B3B3-AED5A68885D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121853"/>
            <a:ext cx="9144000" cy="2387600"/>
          </a:xfrm>
        </p:spPr>
        <p:txBody>
          <a:bodyPr>
            <a:normAutofit/>
          </a:bodyPr>
          <a:lstStyle/>
          <a:p>
            <a:r>
              <a:rPr lang="en-US" altLang="en-US" sz="3200" b="1" dirty="0" smtClean="0">
                <a:latin typeface="Times New Roman" panose="02020603050405020304" pitchFamily="18" charset="0"/>
                <a:cs typeface="Times New Roman" panose="02020603050405020304" pitchFamily="18" charset="0"/>
              </a:rPr>
              <a:t>AI POWERED VIRTUAL JOB INTERVIEW SIMULATOR </a:t>
            </a:r>
            <a:r>
              <a:rPr lang="en-US" b="1" dirty="0">
                <a:latin typeface="Times New Roman" panose="02020603050405020304" pitchFamily="18" charset="0"/>
                <a:cs typeface="Times New Roman" panose="02020603050405020304" pitchFamily="18" charset="0"/>
              </a:rPr>
              <a:t/>
            </a:r>
            <a:br>
              <a:rPr lang="en-US" b="1" dirty="0">
                <a:latin typeface="Times New Roman" panose="02020603050405020304" pitchFamily="18" charset="0"/>
                <a:cs typeface="Times New Roman" panose="02020603050405020304" pitchFamily="18" charset="0"/>
              </a:rPr>
            </a:b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7380"/>
          </a:xfrm>
        </p:spPr>
        <p:txBody>
          <a:bodyPr/>
          <a:lstStyle/>
          <a:p>
            <a:pPr algn="ctr"/>
            <a:r>
              <a:rPr lang="en-US" sz="2800" b="1">
                <a:latin typeface="Times New Roman" panose="02020603050405020304" pitchFamily="18" charset="0"/>
                <a:cs typeface="Times New Roman" panose="02020603050405020304" pitchFamily="18" charset="0"/>
              </a:rPr>
              <a:t>ABSTARCT</a:t>
            </a:r>
          </a:p>
        </p:txBody>
      </p:sp>
      <p:sp>
        <p:nvSpPr>
          <p:cNvPr id="3" name="Content Placeholder 2"/>
          <p:cNvSpPr>
            <a:spLocks noGrp="1"/>
          </p:cNvSpPr>
          <p:nvPr>
            <p:ph idx="1"/>
          </p:nvPr>
        </p:nvSpPr>
        <p:spPr>
          <a:xfrm>
            <a:off x="838200" y="991870"/>
            <a:ext cx="10515600" cy="5459095"/>
          </a:xfrm>
        </p:spPr>
        <p:txBody>
          <a:bodyPr>
            <a:normAutofit/>
          </a:bodyPr>
          <a:lstStyle/>
          <a:p>
            <a:pPr algn="just">
              <a:lnSpc>
                <a:spcPct val="150000"/>
              </a:lnSpc>
            </a:pPr>
            <a:r>
              <a:rPr lang="en-US" sz="2000" dirty="0" smtClean="0">
                <a:latin typeface="Times New Roman" pitchFamily="18" charset="0"/>
                <a:cs typeface="Times New Roman" pitchFamily="18" charset="0"/>
              </a:rPr>
              <a:t>This concept presents an AI-powered platform for efficient candidate evaluation. </a:t>
            </a:r>
          </a:p>
          <a:p>
            <a:pPr algn="just">
              <a:lnSpc>
                <a:spcPct val="150000"/>
              </a:lnSpc>
            </a:pPr>
            <a:r>
              <a:rPr lang="en-US" sz="2000" dirty="0" smtClean="0">
                <a:latin typeface="Times New Roman" pitchFamily="18" charset="0"/>
                <a:cs typeface="Times New Roman" pitchFamily="18" charset="0"/>
              </a:rPr>
              <a:t>Users register/login and upload PDF resumes, which GPT-4 analyzes to generate tailored, minimal questions. </a:t>
            </a:r>
          </a:p>
          <a:p>
            <a:pPr algn="just">
              <a:lnSpc>
                <a:spcPct val="150000"/>
              </a:lnSpc>
            </a:pPr>
            <a:r>
              <a:rPr lang="en-US" sz="2000" dirty="0" smtClean="0">
                <a:latin typeface="Times New Roman" pitchFamily="18" charset="0"/>
                <a:cs typeface="Times New Roman" pitchFamily="18" charset="0"/>
              </a:rPr>
              <a:t>A real-time camera module verifies identity using facial recognition and detects anomalies (e.g., impersonation), sending automated alerts to recruiters if fraud is suspected. </a:t>
            </a:r>
          </a:p>
          <a:p>
            <a:pPr algn="just">
              <a:lnSpc>
                <a:spcPct val="150000"/>
              </a:lnSpc>
            </a:pPr>
            <a:r>
              <a:rPr lang="en-US" sz="2000" dirty="0" smtClean="0">
                <a:latin typeface="Times New Roman" pitchFamily="18" charset="0"/>
                <a:cs typeface="Times New Roman" pitchFamily="18" charset="0"/>
              </a:rPr>
              <a:t>The system adapts questions dynamically based on responses, offering instant feedback to refine answers. </a:t>
            </a:r>
          </a:p>
          <a:p>
            <a:pPr algn="just">
              <a:lnSpc>
                <a:spcPct val="150000"/>
              </a:lnSpc>
            </a:pPr>
            <a:r>
              <a:rPr lang="en-US" sz="2000" dirty="0" smtClean="0">
                <a:latin typeface="Times New Roman" pitchFamily="18" charset="0"/>
                <a:cs typeface="Times New Roman" pitchFamily="18" charset="0"/>
              </a:rPr>
              <a:t>Combining automated resume parsing, intelligent Q&amp;A, and biometric monitoring, it ensures secure, efficient, and engaging assessments for recruitment, education, or certification.</a:t>
            </a:r>
            <a:endParaRPr lang="en-US" altLang="en-US" sz="2000" dirty="0" smtClean="0">
              <a:latin typeface="Times New Roman" pitchFamily="18" charset="0"/>
              <a:cs typeface="Times New Roman" pitchFamily="18" charset="0"/>
            </a:endParaRPr>
          </a:p>
          <a:p>
            <a:pPr algn="just">
              <a:lnSpc>
                <a:spcPct val="150000"/>
              </a:lnSpc>
            </a:pPr>
            <a:endParaRPr lang="en-US" altLang="en-US" sz="2000" dirty="0">
              <a:latin typeface="Times New Roman" pitchFamily="18" charset="0"/>
              <a:cs typeface="Times New Roman" pitchFamily="18" charset="0"/>
            </a:endParaRPr>
          </a:p>
          <a:p>
            <a:pPr algn="just">
              <a:lnSpc>
                <a:spcPct val="150000"/>
              </a:lnSpc>
            </a:pPr>
            <a:endParaRPr lang="en-US" altLang="en-US" sz="2000" dirty="0">
              <a:latin typeface="Times New Roman" pitchFamily="18" charset="0"/>
              <a:cs typeface="Times New Roman" pitchFamily="18" charset="0"/>
            </a:endParaRPr>
          </a:p>
          <a:p>
            <a:pPr algn="just">
              <a:lnSpc>
                <a:spcPct val="150000"/>
              </a:lnSpc>
            </a:pPr>
            <a:endParaRPr lang="en-US" altLang="en-US" sz="2000" dirty="0">
              <a:latin typeface="Times New Roman" pitchFamily="18" charset="0"/>
              <a:cs typeface="Times New Roman" pitchFamily="18" charset="0"/>
            </a:endParaRPr>
          </a:p>
          <a:p>
            <a:pPr algn="just">
              <a:lnSpc>
                <a:spcPct val="150000"/>
              </a:lnSpc>
            </a:pPr>
            <a:endParaRPr lang="en-US" altLang="en-US" sz="2000" dirty="0">
              <a:latin typeface="Times New Roman" pitchFamily="18" charset="0"/>
              <a:cs typeface="Times New Roman" pitchFamily="18" charset="0"/>
            </a:endParaRPr>
          </a:p>
          <a:p>
            <a:pPr algn="just">
              <a:lnSpc>
                <a:spcPct val="150000"/>
              </a:lnSpc>
            </a:pPr>
            <a:endParaRPr lang="en-US" altLang="en-US" sz="2000" dirty="0">
              <a:latin typeface="Times New Roman" pitchFamily="18" charset="0"/>
              <a:cs typeface="Times New Roman" pitchFamily="18" charset="0"/>
            </a:endParaRPr>
          </a:p>
          <a:p>
            <a:pPr algn="just">
              <a:lnSpc>
                <a:spcPct val="150000"/>
              </a:lnSpc>
            </a:pPr>
            <a:endParaRPr lang="en-US" altLang="en-US" sz="20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7380"/>
          </a:xfrm>
        </p:spPr>
        <p:txBody>
          <a:bodyPr/>
          <a:lstStyle/>
          <a:p>
            <a:pPr algn="ctr"/>
            <a:r>
              <a:rPr lang="en-US" sz="2800" b="1">
                <a:latin typeface="Times New Roman" panose="02020603050405020304" pitchFamily="18" charset="0"/>
                <a:cs typeface="Times New Roman" panose="02020603050405020304" pitchFamily="18" charset="0"/>
              </a:rPr>
              <a:t>ABSTARCT</a:t>
            </a:r>
          </a:p>
        </p:txBody>
      </p:sp>
      <p:sp>
        <p:nvSpPr>
          <p:cNvPr id="3" name="Content Placeholder 2"/>
          <p:cNvSpPr>
            <a:spLocks noGrp="1"/>
          </p:cNvSpPr>
          <p:nvPr>
            <p:ph idx="1"/>
          </p:nvPr>
        </p:nvSpPr>
        <p:spPr>
          <a:xfrm>
            <a:off x="838200" y="991870"/>
            <a:ext cx="10515600" cy="5459095"/>
          </a:xfrm>
        </p:spPr>
        <p:txBody>
          <a:bodyPr>
            <a:normAutofit/>
          </a:bodyPr>
          <a:lstStyle/>
          <a:p>
            <a:pPr algn="just">
              <a:lnSpc>
                <a:spcPct val="150000"/>
              </a:lnSpc>
            </a:pPr>
            <a:r>
              <a:rPr lang="en-US" sz="2000" dirty="0" smtClean="0">
                <a:latin typeface="Times New Roman" pitchFamily="18" charset="0"/>
                <a:cs typeface="Times New Roman" pitchFamily="18" charset="0"/>
              </a:rPr>
              <a:t>Perfect for corporate recruitment, education admissions, and professional certification, this solution combines efficiency with rigorous verification. </a:t>
            </a:r>
          </a:p>
          <a:p>
            <a:pPr algn="just">
              <a:lnSpc>
                <a:spcPct val="150000"/>
              </a:lnSpc>
            </a:pPr>
            <a:r>
              <a:rPr lang="en-US" sz="2000" dirty="0" smtClean="0">
                <a:latin typeface="Times New Roman" pitchFamily="18" charset="0"/>
                <a:cs typeface="Times New Roman" pitchFamily="18" charset="0"/>
              </a:rPr>
              <a:t>The system's smart automation handles initial screening, while human recruiters focus on final selection - creating an optimal blend of AI precision and human judgment.</a:t>
            </a:r>
            <a:endParaRPr lang="en-US" altLang="en-US" sz="2000" dirty="0">
              <a:latin typeface="Times New Roman" pitchFamily="18" charset="0"/>
              <a:cs typeface="Times New Roman" pitchFamily="18" charset="0"/>
            </a:endParaRPr>
          </a:p>
          <a:p>
            <a:pPr algn="just">
              <a:lnSpc>
                <a:spcPct val="150000"/>
              </a:lnSpc>
            </a:pPr>
            <a:r>
              <a:rPr lang="en-US" sz="2000" b="1" dirty="0" smtClean="0">
                <a:latin typeface="Times New Roman" pitchFamily="18" charset="0"/>
                <a:cs typeface="Times New Roman" pitchFamily="18" charset="0"/>
              </a:rPr>
              <a:t>Keywords: </a:t>
            </a:r>
            <a:r>
              <a:rPr lang="en-US" sz="2000" dirty="0" smtClean="0">
                <a:latin typeface="Times New Roman" pitchFamily="18" charset="0"/>
                <a:cs typeface="Times New Roman" pitchFamily="18" charset="0"/>
              </a:rPr>
              <a:t>AI assessment, resume parsing, GPT-4, facial verification, fraud detection, adaptive questioning, real-time feedback, recruitment automation.</a:t>
            </a:r>
          </a:p>
          <a:p>
            <a:pPr algn="just">
              <a:lnSpc>
                <a:spcPct val="150000"/>
              </a:lnSpc>
              <a:buNone/>
            </a:pPr>
            <a:endParaRPr lang="en-US" altLang="en-US" sz="2000" dirty="0">
              <a:latin typeface="Times New Roman" pitchFamily="18" charset="0"/>
              <a:cs typeface="Times New Roman" pitchFamily="18" charset="0"/>
            </a:endParaRPr>
          </a:p>
          <a:p>
            <a:pPr algn="just">
              <a:lnSpc>
                <a:spcPct val="150000"/>
              </a:lnSpc>
            </a:pPr>
            <a:endParaRPr lang="en-US" altLang="en-US" sz="2000" dirty="0">
              <a:latin typeface="Times New Roman" pitchFamily="18" charset="0"/>
              <a:cs typeface="Times New Roman" pitchFamily="18" charset="0"/>
            </a:endParaRPr>
          </a:p>
          <a:p>
            <a:pPr algn="just">
              <a:lnSpc>
                <a:spcPct val="150000"/>
              </a:lnSpc>
            </a:pPr>
            <a:endParaRPr lang="en-US" altLang="en-US" sz="2000" dirty="0">
              <a:latin typeface="Times New Roman" pitchFamily="18" charset="0"/>
              <a:cs typeface="Times New Roman" pitchFamily="18" charset="0"/>
            </a:endParaRPr>
          </a:p>
          <a:p>
            <a:pPr algn="just">
              <a:lnSpc>
                <a:spcPct val="150000"/>
              </a:lnSpc>
            </a:pPr>
            <a:endParaRPr lang="en-US" altLang="en-US" sz="2000" dirty="0">
              <a:latin typeface="Times New Roman" pitchFamily="18" charset="0"/>
              <a:cs typeface="Times New Roman" pitchFamily="18" charset="0"/>
            </a:endParaRPr>
          </a:p>
          <a:p>
            <a:pPr algn="just">
              <a:lnSpc>
                <a:spcPct val="150000"/>
              </a:lnSpc>
            </a:pPr>
            <a:endParaRPr lang="en-US" altLang="en-US" sz="20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4630"/>
            <a:ext cx="10515600" cy="629285"/>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INTRODUCTION</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967105"/>
            <a:ext cx="10515600" cy="5523865"/>
          </a:xfrm>
        </p:spPr>
        <p:txBody>
          <a:bodyPr>
            <a:normAutofit/>
          </a:bodyPr>
          <a:lstStyle/>
          <a:p>
            <a:pPr algn="just">
              <a:lnSpc>
                <a:spcPct val="150000"/>
              </a:lnSpc>
            </a:pPr>
            <a:r>
              <a:rPr lang="en-US" sz="2000" dirty="0" smtClean="0">
                <a:latin typeface="Times New Roman" pitchFamily="18" charset="0"/>
                <a:cs typeface="Times New Roman" pitchFamily="18" charset="0"/>
              </a:rPr>
              <a:t>This  concept introduces an AI-powered platform that revolutionizes traditional evaluation methods. </a:t>
            </a:r>
          </a:p>
          <a:p>
            <a:pPr algn="just">
              <a:lnSpc>
                <a:spcPct val="150000"/>
              </a:lnSpc>
            </a:pPr>
            <a:r>
              <a:rPr lang="en-US" sz="2000" dirty="0" smtClean="0">
                <a:latin typeface="Times New Roman" pitchFamily="18" charset="0"/>
                <a:cs typeface="Times New Roman" pitchFamily="18" charset="0"/>
              </a:rPr>
              <a:t>Users begin by registering or logging in, then upload their resumes in PDF format.</a:t>
            </a:r>
          </a:p>
          <a:p>
            <a:pPr algn="just">
              <a:lnSpc>
                <a:spcPct val="150000"/>
              </a:lnSpc>
            </a:pPr>
            <a:r>
              <a:rPr lang="en-US" sz="2000" dirty="0" smtClean="0">
                <a:latin typeface="Times New Roman" pitchFamily="18" charset="0"/>
                <a:cs typeface="Times New Roman" pitchFamily="18" charset="0"/>
              </a:rPr>
              <a:t> The system employs advanced GPT-4 technology to analyze resume content and generate personalized, concise questions, ensuring a streamlined process. </a:t>
            </a:r>
          </a:p>
          <a:p>
            <a:pPr algn="just">
              <a:lnSpc>
                <a:spcPct val="150000"/>
              </a:lnSpc>
            </a:pPr>
            <a:r>
              <a:rPr lang="en-US" sz="2000" dirty="0" smtClean="0">
                <a:latin typeface="Times New Roman" pitchFamily="18" charset="0"/>
                <a:cs typeface="Times New Roman" pitchFamily="18" charset="0"/>
              </a:rPr>
              <a:t>Integrated real-time facial verification enhances security by detecting anomalies and preventing fraud, with instant alerts sent to administrators when irregularities occur. </a:t>
            </a:r>
          </a:p>
          <a:p>
            <a:pPr algn="just">
              <a:lnSpc>
                <a:spcPct val="150000"/>
              </a:lnSpc>
            </a:pPr>
            <a:r>
              <a:rPr lang="en-US" sz="2000" dirty="0" smtClean="0">
                <a:latin typeface="Times New Roman" pitchFamily="18" charset="0"/>
                <a:cs typeface="Times New Roman" pitchFamily="18" charset="0"/>
              </a:rPr>
              <a:t>By combining intelligent resume parsing, dynamic questioning, and biometric monitoring, this platform delivers a smart, secure, and user-friendly solution for modern recruitment and certification needs.</a:t>
            </a:r>
            <a:endParaRPr lang="en-US" altLang="en-US" sz="20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4630"/>
            <a:ext cx="10515600" cy="629285"/>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OBJECTIVES</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967105"/>
            <a:ext cx="10515600" cy="5523865"/>
          </a:xfrm>
        </p:spPr>
        <p:txBody>
          <a:bodyPr>
            <a:normAutofit/>
          </a:bodyPr>
          <a:lstStyle/>
          <a:p>
            <a:pPr algn="just">
              <a:lnSpc>
                <a:spcPct val="150000"/>
              </a:lnSpc>
            </a:pPr>
            <a:r>
              <a:rPr lang="en-US" sz="2000" b="1" dirty="0" smtClean="0">
                <a:latin typeface="Times New Roman" pitchFamily="18" charset="0"/>
                <a:cs typeface="Times New Roman" pitchFamily="18" charset="0"/>
              </a:rPr>
              <a:t>Automate Candidate Assessment</a:t>
            </a:r>
            <a:r>
              <a:rPr lang="en-US" sz="2000" dirty="0" smtClean="0">
                <a:latin typeface="Times New Roman" pitchFamily="18" charset="0"/>
                <a:cs typeface="Times New Roman" pitchFamily="18" charset="0"/>
              </a:rPr>
              <a:t> – Streamline resume screening and evaluation using AI to reduce manual effort and bias.</a:t>
            </a:r>
          </a:p>
          <a:p>
            <a:pPr algn="just">
              <a:lnSpc>
                <a:spcPct val="150000"/>
              </a:lnSpc>
            </a:pPr>
            <a:r>
              <a:rPr lang="en-US" sz="2000" b="1" dirty="0" smtClean="0">
                <a:latin typeface="Times New Roman" pitchFamily="18" charset="0"/>
                <a:cs typeface="Times New Roman" pitchFamily="18" charset="0"/>
              </a:rPr>
              <a:t>Enhance Security &amp; Authenticity</a:t>
            </a:r>
            <a:r>
              <a:rPr lang="en-US" sz="2000" dirty="0" smtClean="0">
                <a:latin typeface="Times New Roman" pitchFamily="18" charset="0"/>
                <a:cs typeface="Times New Roman" pitchFamily="18" charset="0"/>
              </a:rPr>
              <a:t> – Integrate facial recognition to verify user identity and detect fraudulent activities.</a:t>
            </a:r>
          </a:p>
          <a:p>
            <a:pPr algn="just">
              <a:lnSpc>
                <a:spcPct val="150000"/>
              </a:lnSpc>
            </a:pPr>
            <a:r>
              <a:rPr lang="en-US" sz="2000" b="1" dirty="0" smtClean="0">
                <a:latin typeface="Times New Roman" pitchFamily="18" charset="0"/>
                <a:cs typeface="Times New Roman" pitchFamily="18" charset="0"/>
              </a:rPr>
              <a:t>Optimize Interview Efficiency</a:t>
            </a:r>
            <a:r>
              <a:rPr lang="en-US" sz="2000" dirty="0" smtClean="0">
                <a:latin typeface="Times New Roman" pitchFamily="18" charset="0"/>
                <a:cs typeface="Times New Roman" pitchFamily="18" charset="0"/>
              </a:rPr>
              <a:t> – Use GPT-4 to generate smart, adaptive questions based on resume content for faster, more relevant evaluations.</a:t>
            </a:r>
          </a:p>
          <a:p>
            <a:pPr algn="just">
              <a:lnSpc>
                <a:spcPct val="150000"/>
              </a:lnSpc>
            </a:pPr>
            <a:r>
              <a:rPr lang="en-US" sz="2000" b="1" dirty="0" smtClean="0">
                <a:latin typeface="Times New Roman" pitchFamily="18" charset="0"/>
                <a:cs typeface="Times New Roman" pitchFamily="18" charset="0"/>
              </a:rPr>
              <a:t>Improve User Engagement</a:t>
            </a:r>
            <a:r>
              <a:rPr lang="en-US" sz="2000" dirty="0" smtClean="0">
                <a:latin typeface="Times New Roman" pitchFamily="18" charset="0"/>
                <a:cs typeface="Times New Roman" pitchFamily="18" charset="0"/>
              </a:rPr>
              <a:t> – Provide real-time feedback to candidates, helping them refine responses dynamically.</a:t>
            </a:r>
          </a:p>
          <a:p>
            <a:pPr algn="just">
              <a:lnSpc>
                <a:spcPct val="150000"/>
              </a:lnSpc>
            </a:pPr>
            <a:r>
              <a:rPr lang="en-US" sz="2000" b="1" dirty="0" smtClean="0">
                <a:latin typeface="Times New Roman" pitchFamily="18" charset="0"/>
                <a:cs typeface="Times New Roman" pitchFamily="18" charset="0"/>
              </a:rPr>
              <a:t>Enable Proactive Alerts</a:t>
            </a:r>
            <a:r>
              <a:rPr lang="en-US" sz="2000" dirty="0" smtClean="0">
                <a:latin typeface="Times New Roman" pitchFamily="18" charset="0"/>
                <a:cs typeface="Times New Roman" pitchFamily="18" charset="0"/>
              </a:rPr>
              <a:t> – Notify recruiters/administrators of suspicious behavior (e.g., impersonation) for quick intervention.</a:t>
            </a:r>
          </a:p>
          <a:p>
            <a:pPr algn="just">
              <a:lnSpc>
                <a:spcPct val="150000"/>
              </a:lnSpc>
            </a:pPr>
            <a:endParaRPr lang="en-US" altLang="en-US" sz="20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4630"/>
            <a:ext cx="10515600" cy="629285"/>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PROBLEM STATEMENT</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967105"/>
            <a:ext cx="10515600" cy="5523865"/>
          </a:xfrm>
        </p:spPr>
        <p:txBody>
          <a:bodyPr>
            <a:normAutofit/>
          </a:bodyPr>
          <a:lstStyle/>
          <a:p>
            <a:pPr algn="just">
              <a:lnSpc>
                <a:spcPct val="150000"/>
              </a:lnSpc>
            </a:pPr>
            <a:r>
              <a:rPr lang="en-US" sz="2000" dirty="0" smtClean="0">
                <a:latin typeface="Times New Roman" pitchFamily="18" charset="0"/>
                <a:cs typeface="Times New Roman" pitchFamily="18" charset="0"/>
              </a:rPr>
              <a:t>Traditional hiring processes are often time-consuming, biased, and vulnerable to fraud. Recruiters manually sift through resumes, conduct generic interviews, and struggle with identity verification, leading to inefficiencies and unreliable outcomes. </a:t>
            </a:r>
            <a:endParaRPr lang="en-US" sz="2000" dirty="0" smtClean="0">
              <a:latin typeface="Times New Roman" pitchFamily="18" charset="0"/>
              <a:cs typeface="Times New Roman" pitchFamily="18" charset="0"/>
            </a:endParaRPr>
          </a:p>
          <a:p>
            <a:pPr algn="just">
              <a:lnSpc>
                <a:spcPct val="150000"/>
              </a:lnSpc>
            </a:pPr>
            <a:r>
              <a:rPr lang="en-US" sz="2000" dirty="0" smtClean="0">
                <a:latin typeface="Times New Roman" pitchFamily="18" charset="0"/>
                <a:cs typeface="Times New Roman" pitchFamily="18" charset="0"/>
              </a:rPr>
              <a:t>In </a:t>
            </a:r>
            <a:r>
              <a:rPr lang="en-US" sz="2000" dirty="0" smtClean="0">
                <a:latin typeface="Times New Roman" pitchFamily="18" charset="0"/>
                <a:cs typeface="Times New Roman" pitchFamily="18" charset="0"/>
              </a:rPr>
              <a:t>today’s fast-paced world, there's a growing need for a secure, intelligent evaluation system that can automate resume screening, adapt questions to individual candidates, and ensure real-time identity verification. </a:t>
            </a:r>
            <a:endParaRPr lang="en-US" sz="2000" dirty="0" smtClean="0">
              <a:latin typeface="Times New Roman" pitchFamily="18" charset="0"/>
              <a:cs typeface="Times New Roman" pitchFamily="18" charset="0"/>
            </a:endParaRPr>
          </a:p>
          <a:p>
            <a:pPr algn="just">
              <a:lnSpc>
                <a:spcPct val="150000"/>
              </a:lnSpc>
            </a:pPr>
            <a:r>
              <a:rPr lang="en-US" sz="2000" dirty="0" smtClean="0">
                <a:latin typeface="Times New Roman" pitchFamily="18" charset="0"/>
                <a:cs typeface="Times New Roman" pitchFamily="18" charset="0"/>
              </a:rPr>
              <a:t>Without </a:t>
            </a:r>
            <a:r>
              <a:rPr lang="en-US" sz="2000" dirty="0" smtClean="0">
                <a:latin typeface="Times New Roman" pitchFamily="18" charset="0"/>
                <a:cs typeface="Times New Roman" pitchFamily="18" charset="0"/>
              </a:rPr>
              <a:t>such innovations, organizations risk poor hiring decisions, increased costs, and compromised data integrity. </a:t>
            </a:r>
            <a:endParaRPr lang="en-US" sz="2000" dirty="0" smtClean="0">
              <a:latin typeface="Times New Roman" pitchFamily="18" charset="0"/>
              <a:cs typeface="Times New Roman" pitchFamily="18" charset="0"/>
            </a:endParaRPr>
          </a:p>
          <a:p>
            <a:pPr algn="just">
              <a:lnSpc>
                <a:spcPct val="150000"/>
              </a:lnSpc>
            </a:pPr>
            <a:r>
              <a:rPr lang="en-US" sz="2000" dirty="0" smtClean="0">
                <a:latin typeface="Times New Roman" pitchFamily="18" charset="0"/>
                <a:cs typeface="Times New Roman" pitchFamily="18" charset="0"/>
              </a:rPr>
              <a:t>This </a:t>
            </a:r>
            <a:r>
              <a:rPr lang="en-US" sz="2000" dirty="0" smtClean="0">
                <a:latin typeface="Times New Roman" pitchFamily="18" charset="0"/>
                <a:cs typeface="Times New Roman" pitchFamily="18" charset="0"/>
              </a:rPr>
              <a:t>project addresses these challenges by developing an AI-powered platform that enhances assessment accuracy, reduces hiring time, and safeguards against impersonation and fraud.</a:t>
            </a:r>
            <a:endParaRPr lang="en-US" altLang="en-US" sz="20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4630"/>
            <a:ext cx="10515600" cy="629285"/>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SCOPE OF THE PROJECT</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967105"/>
            <a:ext cx="10515600" cy="5523865"/>
          </a:xfrm>
        </p:spPr>
        <p:txBody>
          <a:bodyPr>
            <a:normAutofit lnSpcReduction="10000"/>
          </a:bodyPr>
          <a:lstStyle/>
          <a:p>
            <a:pPr algn="just">
              <a:lnSpc>
                <a:spcPct val="150000"/>
              </a:lnSpc>
            </a:pPr>
            <a:r>
              <a:rPr lang="en-US" sz="2000" dirty="0" smtClean="0">
                <a:latin typeface="Times New Roman" pitchFamily="18" charset="0"/>
                <a:cs typeface="Times New Roman" pitchFamily="18" charset="0"/>
              </a:rPr>
              <a:t>This project focuses on building an AI-powered recruitment platform that streamlines candidate evaluation through automation and biometric verification. </a:t>
            </a:r>
            <a:endParaRPr lang="en-US" sz="2000" dirty="0" smtClean="0">
              <a:latin typeface="Times New Roman" pitchFamily="18" charset="0"/>
              <a:cs typeface="Times New Roman" pitchFamily="18" charset="0"/>
            </a:endParaRPr>
          </a:p>
          <a:p>
            <a:pPr algn="just">
              <a:lnSpc>
                <a:spcPct val="150000"/>
              </a:lnSpc>
            </a:pPr>
            <a:r>
              <a:rPr lang="en-US" sz="2000" dirty="0" smtClean="0">
                <a:latin typeface="Times New Roman" pitchFamily="18" charset="0"/>
                <a:cs typeface="Times New Roman" pitchFamily="18" charset="0"/>
              </a:rPr>
              <a:t>It </a:t>
            </a:r>
            <a:r>
              <a:rPr lang="en-US" sz="2000" dirty="0" smtClean="0">
                <a:latin typeface="Times New Roman" pitchFamily="18" charset="0"/>
                <a:cs typeface="Times New Roman" pitchFamily="18" charset="0"/>
              </a:rPr>
              <a:t>will include resume parsing, intelligent question generation using GPT-4, and adaptive interviewing based on real-time responses. </a:t>
            </a:r>
            <a:endParaRPr lang="en-US" sz="2000" dirty="0" smtClean="0">
              <a:latin typeface="Times New Roman" pitchFamily="18" charset="0"/>
              <a:cs typeface="Times New Roman" pitchFamily="18" charset="0"/>
            </a:endParaRPr>
          </a:p>
          <a:p>
            <a:pPr algn="just">
              <a:lnSpc>
                <a:spcPct val="150000"/>
              </a:lnSpc>
            </a:pPr>
            <a:r>
              <a:rPr lang="en-US" sz="2000" dirty="0" smtClean="0">
                <a:latin typeface="Times New Roman" pitchFamily="18" charset="0"/>
                <a:cs typeface="Times New Roman" pitchFamily="18" charset="0"/>
              </a:rPr>
              <a:t>A </a:t>
            </a:r>
            <a:r>
              <a:rPr lang="en-US" sz="2000" dirty="0" smtClean="0">
                <a:latin typeface="Times New Roman" pitchFamily="18" charset="0"/>
                <a:cs typeface="Times New Roman" pitchFamily="18" charset="0"/>
              </a:rPr>
              <a:t>facial recognition module will verify identity throughout the assessment, detecting impersonation or suspicious behavior. </a:t>
            </a:r>
            <a:endParaRPr lang="en-US" sz="2000" dirty="0" smtClean="0">
              <a:latin typeface="Times New Roman" pitchFamily="18" charset="0"/>
              <a:cs typeface="Times New Roman" pitchFamily="18" charset="0"/>
            </a:endParaRPr>
          </a:p>
          <a:p>
            <a:pPr algn="just">
              <a:lnSpc>
                <a:spcPct val="150000"/>
              </a:lnSpc>
            </a:pPr>
            <a:r>
              <a:rPr lang="en-US" sz="2000" dirty="0" smtClean="0">
                <a:latin typeface="Times New Roman" pitchFamily="18" charset="0"/>
                <a:cs typeface="Times New Roman" pitchFamily="18" charset="0"/>
              </a:rPr>
              <a:t>The </a:t>
            </a:r>
            <a:r>
              <a:rPr lang="en-US" sz="2000" dirty="0" smtClean="0">
                <a:latin typeface="Times New Roman" pitchFamily="18" charset="0"/>
                <a:cs typeface="Times New Roman" pitchFamily="18" charset="0"/>
              </a:rPr>
              <a:t>system will offer instant candidate feedback and automated alerts to recruiters in case of anomalies. </a:t>
            </a:r>
            <a:endParaRPr lang="en-US" sz="2000" dirty="0" smtClean="0">
              <a:latin typeface="Times New Roman" pitchFamily="18" charset="0"/>
              <a:cs typeface="Times New Roman" pitchFamily="18" charset="0"/>
            </a:endParaRPr>
          </a:p>
          <a:p>
            <a:pPr algn="just">
              <a:lnSpc>
                <a:spcPct val="150000"/>
              </a:lnSpc>
            </a:pPr>
            <a:r>
              <a:rPr lang="en-US" sz="2000" dirty="0" smtClean="0">
                <a:latin typeface="Times New Roman" pitchFamily="18" charset="0"/>
                <a:cs typeface="Times New Roman" pitchFamily="18" charset="0"/>
              </a:rPr>
              <a:t>Designed </a:t>
            </a:r>
            <a:r>
              <a:rPr lang="en-US" sz="2000" dirty="0" smtClean="0">
                <a:latin typeface="Times New Roman" pitchFamily="18" charset="0"/>
                <a:cs typeface="Times New Roman" pitchFamily="18" charset="0"/>
              </a:rPr>
              <a:t>with a secure Python backend and </a:t>
            </a:r>
            <a:r>
              <a:rPr lang="en-US" sz="2000" dirty="0" err="1" smtClean="0">
                <a:latin typeface="Times New Roman" pitchFamily="18" charset="0"/>
                <a:cs typeface="Times New Roman" pitchFamily="18" charset="0"/>
              </a:rPr>
              <a:t>OpenCV</a:t>
            </a:r>
            <a:r>
              <a:rPr lang="en-US" sz="2000" dirty="0" smtClean="0">
                <a:latin typeface="Times New Roman" pitchFamily="18" charset="0"/>
                <a:cs typeface="Times New Roman" pitchFamily="18" charset="0"/>
              </a:rPr>
              <a:t> integration, the platform aims to reduce manual screening efforts, enhance evaluation accuracy, and improve overall recruitment efficiency in corporate, academic, and certification environments.</a:t>
            </a:r>
          </a:p>
          <a:p>
            <a:pPr algn="just">
              <a:lnSpc>
                <a:spcPct val="150000"/>
              </a:lnSpc>
            </a:pPr>
            <a:endParaRPr lang="en-US" altLang="en-US" sz="2000"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4630"/>
            <a:ext cx="10515600" cy="655320"/>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LITERATURE REVIEW</a:t>
            </a:r>
            <a:endParaRPr lang="en-US" sz="2800" b="1" dirty="0">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nvPr>
        </p:nvGraphicFramePr>
        <p:xfrm>
          <a:off x="863600" y="728663"/>
          <a:ext cx="10515600" cy="5034280"/>
        </p:xfrm>
        <a:graphic>
          <a:graphicData uri="http://schemas.openxmlformats.org/drawingml/2006/table">
            <a:tbl>
              <a:tblPr firstRow="1" bandRow="1">
                <a:tableStyleId>{5C22544A-7EE6-4342-B048-85BDC9FD1C3A}</a:tableStyleId>
              </a:tblPr>
              <a:tblGrid>
                <a:gridCol w="795383"/>
                <a:gridCol w="1867988"/>
                <a:gridCol w="1828800"/>
                <a:gridCol w="1031966"/>
                <a:gridCol w="4991463"/>
              </a:tblGrid>
              <a:tr h="370840">
                <a:tc>
                  <a:txBody>
                    <a:bodyPr/>
                    <a:lstStyle/>
                    <a:p>
                      <a:pPr algn="ctr"/>
                      <a:r>
                        <a:rPr lang="en-US" dirty="0" smtClean="0">
                          <a:solidFill>
                            <a:schemeClr val="tx1">
                              <a:lumMod val="95000"/>
                              <a:lumOff val="5000"/>
                            </a:schemeClr>
                          </a:solidFill>
                          <a:latin typeface="Times New Roman" panose="02020603050405020304" pitchFamily="18" charset="0"/>
                          <a:cs typeface="Times New Roman" panose="02020603050405020304" pitchFamily="18" charset="0"/>
                        </a:rPr>
                        <a:t>S no</a:t>
                      </a: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ctr"/>
                      <a:r>
                        <a:rPr lang="en-US" dirty="0" smtClean="0">
                          <a:solidFill>
                            <a:schemeClr val="tx1">
                              <a:lumMod val="95000"/>
                              <a:lumOff val="5000"/>
                            </a:schemeClr>
                          </a:solidFill>
                          <a:latin typeface="Times New Roman" panose="02020603050405020304" pitchFamily="18" charset="0"/>
                          <a:cs typeface="Times New Roman" panose="02020603050405020304" pitchFamily="18" charset="0"/>
                        </a:rPr>
                        <a:t>Title </a:t>
                      </a: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ctr"/>
                      <a:r>
                        <a:rPr lang="en-US" dirty="0" smtClean="0">
                          <a:solidFill>
                            <a:schemeClr val="tx1">
                              <a:lumMod val="95000"/>
                              <a:lumOff val="5000"/>
                            </a:schemeClr>
                          </a:solidFill>
                          <a:latin typeface="Times New Roman" panose="02020603050405020304" pitchFamily="18" charset="0"/>
                          <a:cs typeface="Times New Roman" panose="02020603050405020304" pitchFamily="18" charset="0"/>
                        </a:rPr>
                        <a:t>Author </a:t>
                      </a: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ctr"/>
                      <a:r>
                        <a:rPr lang="en-US" dirty="0" smtClean="0">
                          <a:solidFill>
                            <a:schemeClr val="tx1">
                              <a:lumMod val="95000"/>
                              <a:lumOff val="5000"/>
                            </a:schemeClr>
                          </a:solidFill>
                          <a:latin typeface="Times New Roman" panose="02020603050405020304" pitchFamily="18" charset="0"/>
                          <a:cs typeface="Times New Roman" panose="02020603050405020304" pitchFamily="18" charset="0"/>
                        </a:rPr>
                        <a:t>Year </a:t>
                      </a: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ctr"/>
                      <a:r>
                        <a:rPr lang="en-US" dirty="0" smtClean="0">
                          <a:solidFill>
                            <a:schemeClr val="tx1">
                              <a:lumMod val="95000"/>
                              <a:lumOff val="5000"/>
                            </a:schemeClr>
                          </a:solidFill>
                          <a:latin typeface="Times New Roman" panose="02020603050405020304" pitchFamily="18" charset="0"/>
                          <a:cs typeface="Times New Roman" panose="02020603050405020304" pitchFamily="18" charset="0"/>
                        </a:rPr>
                        <a:t>Description</a:t>
                      </a: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solidFill>
                      <a:schemeClr val="bg1"/>
                    </a:solidFill>
                  </a:tcPr>
                </a:tc>
              </a:tr>
              <a:tr h="370840">
                <a:tc>
                  <a:txBody>
                    <a:bodyPr/>
                    <a:lstStyle/>
                    <a:p>
                      <a:pPr algn="just"/>
                      <a:r>
                        <a:rPr lang="en-US" sz="1600" dirty="0" smtClean="0">
                          <a:latin typeface="Times New Roman" panose="02020603050405020304" pitchFamily="18" charset="0"/>
                          <a:cs typeface="Times New Roman" panose="02020603050405020304" pitchFamily="18" charset="0"/>
                        </a:rPr>
                        <a:t>1.</a:t>
                      </a:r>
                    </a:p>
                  </a:txBody>
                  <a:tcPr>
                    <a:solidFill>
                      <a:schemeClr val="bg1"/>
                    </a:solidFill>
                  </a:tcPr>
                </a:tc>
                <a:tc>
                  <a:txBody>
                    <a:bodyPr/>
                    <a:lstStyle/>
                    <a:p>
                      <a:pPr algn="l"/>
                      <a:r>
                        <a:rPr lang="en-US" altLang="en-US" sz="1600" dirty="0">
                          <a:latin typeface="Times New Roman" panose="02020603050405020304" pitchFamily="18" charset="0"/>
                          <a:cs typeface="Times New Roman" panose="02020603050405020304" pitchFamily="18" charset="0"/>
                          <a:sym typeface="+mn-ea"/>
                        </a:rPr>
                        <a:t>A prototype of smart virtual assistant integrated with automation</a:t>
                      </a:r>
                    </a:p>
                  </a:txBody>
                  <a:tcPr>
                    <a:solidFill>
                      <a:schemeClr val="bg1"/>
                    </a:solidFill>
                  </a:tcPr>
                </a:tc>
                <a:tc>
                  <a:txBody>
                    <a:bodyPr/>
                    <a:lstStyle/>
                    <a:p>
                      <a:pPr algn="l"/>
                      <a:r>
                        <a:rPr lang="en-US" altLang="en-US" sz="1600" dirty="0">
                          <a:latin typeface="Times New Roman" panose="02020603050405020304" pitchFamily="18" charset="0"/>
                          <a:cs typeface="Times New Roman" panose="02020603050405020304" pitchFamily="18" charset="0"/>
                        </a:rPr>
                        <a:t>Harsh Mauny; Devarsh Panchal; Meet Bhavsar; Nidhi Shah</a:t>
                      </a:r>
                    </a:p>
                  </a:txBody>
                  <a:tcPr>
                    <a:solidFill>
                      <a:schemeClr val="bg1"/>
                    </a:solidFill>
                  </a:tcPr>
                </a:tc>
                <a:tc>
                  <a:txBody>
                    <a:bodyPr/>
                    <a:lstStyle/>
                    <a:p>
                      <a:pPr algn="just"/>
                      <a:r>
                        <a:rPr lang="en-US" sz="1600" dirty="0" smtClean="0">
                          <a:latin typeface="Times New Roman" panose="02020603050405020304" pitchFamily="18" charset="0"/>
                          <a:cs typeface="Times New Roman" panose="02020603050405020304" pitchFamily="18" charset="0"/>
                        </a:rPr>
                        <a:t>2021</a:t>
                      </a:r>
                    </a:p>
                  </a:txBody>
                  <a:tcPr>
                    <a:solidFill>
                      <a:schemeClr val="bg1"/>
                    </a:solidFill>
                  </a:tcPr>
                </a:tc>
                <a:tc>
                  <a:txBody>
                    <a:bodyPr/>
                    <a:lstStyle/>
                    <a:p>
                      <a:pPr algn="just"/>
                      <a:r>
                        <a:rPr lang="en-US" altLang="en-US" sz="1600" kern="1200" dirty="0" smtClean="0">
                          <a:solidFill>
                            <a:schemeClr val="dk1"/>
                          </a:solidFill>
                          <a:effectLst/>
                          <a:latin typeface="Times New Roman" panose="02020603050405020304" pitchFamily="18" charset="0"/>
                          <a:ea typeface="+mn-ea"/>
                          <a:cs typeface="Times New Roman" panose="02020603050405020304" pitchFamily="18" charset="0"/>
                        </a:rPr>
                        <a:t>Some of the popular virtual assistants today are Google Assistant, Apple's Siri, Amazon's Alexa, Microsoft's Cortana. Such virtual assistants are capable of understanding natural language voice commands and perform various tasks for users.</a:t>
                      </a:r>
                    </a:p>
                  </a:txBody>
                  <a:tcPr>
                    <a:solidFill>
                      <a:schemeClr val="bg1"/>
                    </a:solidFill>
                  </a:tcPr>
                </a:tc>
              </a:tr>
              <a:tr h="370840">
                <a:tc>
                  <a:txBody>
                    <a:bodyPr/>
                    <a:lstStyle/>
                    <a:p>
                      <a:pPr algn="just"/>
                      <a:r>
                        <a:rPr lang="en-US" sz="1600" dirty="0" smtClean="0">
                          <a:latin typeface="Times New Roman" panose="02020603050405020304" pitchFamily="18" charset="0"/>
                          <a:cs typeface="Times New Roman" panose="02020603050405020304" pitchFamily="18" charset="0"/>
                        </a:rPr>
                        <a:t>2.</a:t>
                      </a:r>
                    </a:p>
                  </a:txBody>
                  <a:tcPr>
                    <a:solidFill>
                      <a:schemeClr val="bg1"/>
                    </a:solidFill>
                  </a:tcPr>
                </a:tc>
                <a:tc>
                  <a:txBody>
                    <a:bodyPr/>
                    <a:lstStyle/>
                    <a:p>
                      <a:pPr algn="l"/>
                      <a:r>
                        <a:rPr lang="en-US" altLang="en-US" sz="1600" dirty="0">
                          <a:latin typeface="Cambria" panose="02040503050406030204" charset="0"/>
                          <a:cs typeface="Cambria" panose="02040503050406030204" charset="0"/>
                          <a:sym typeface="+mn-ea"/>
                        </a:rPr>
                        <a:t>Laptop Recommendation Intelligent Virtual Assistant using Recurrent Neural Network with RPA for Data Scraping</a:t>
                      </a:r>
                    </a:p>
                  </a:txBody>
                  <a:tcPr>
                    <a:solidFill>
                      <a:schemeClr val="bg1"/>
                    </a:solidFill>
                  </a:tcPr>
                </a:tc>
                <a:tc>
                  <a:txBody>
                    <a:bodyPr/>
                    <a:lstStyle/>
                    <a:p>
                      <a:pPr algn="just"/>
                      <a:r>
                        <a:rPr lang="en-US" altLang="en-US" sz="1600" dirty="0">
                          <a:latin typeface="Times New Roman" panose="02020603050405020304" pitchFamily="18" charset="0"/>
                          <a:cs typeface="Times New Roman" panose="02020603050405020304" pitchFamily="18" charset="0"/>
                        </a:rPr>
                        <a:t>Steven Tjayadi; Viny Christanti Mawardi</a:t>
                      </a:r>
                    </a:p>
                  </a:txBody>
                  <a:tcPr>
                    <a:solidFill>
                      <a:schemeClr val="bg1"/>
                    </a:solidFill>
                  </a:tcPr>
                </a:tc>
                <a:tc>
                  <a:txBody>
                    <a:bodyPr/>
                    <a:lstStyle/>
                    <a:p>
                      <a:pPr algn="just"/>
                      <a:r>
                        <a:rPr lang="en-US" sz="1600" dirty="0" smtClean="0">
                          <a:latin typeface="Times New Roman" panose="02020603050405020304" pitchFamily="18" charset="0"/>
                          <a:cs typeface="Times New Roman" panose="02020603050405020304" pitchFamily="18" charset="0"/>
                        </a:rPr>
                        <a:t>2022</a:t>
                      </a:r>
                    </a:p>
                  </a:txBody>
                  <a:tcPr>
                    <a:solidFill>
                      <a:schemeClr val="bg1"/>
                    </a:solidFill>
                  </a:tcPr>
                </a:tc>
                <a:tc>
                  <a:txBody>
                    <a:bodyPr/>
                    <a:lstStyle/>
                    <a:p>
                      <a:pPr algn="just"/>
                      <a:r>
                        <a:rPr lang="en-US" altLang="en-US" sz="1600" kern="1200" dirty="0" smtClean="0">
                          <a:solidFill>
                            <a:schemeClr val="dk1"/>
                          </a:solidFill>
                          <a:effectLst/>
                          <a:latin typeface="Times New Roman" panose="02020603050405020304" pitchFamily="18" charset="0"/>
                          <a:ea typeface="+mn-ea"/>
                          <a:cs typeface="Times New Roman" panose="02020603050405020304" pitchFamily="18" charset="0"/>
                        </a:rPr>
                        <a:t>Virtual Assistant is a job that helps receive support services for customers online or remotely. Virtual Assistant can be named as a chatbot in an Artificial Intelligence background. The Virtual Assistant we used is for Laptop Recommendation. Laptops are modern, multi-functional computing devices that can be used just like computers.</a:t>
                      </a:r>
                    </a:p>
                  </a:txBody>
                  <a:tcPr>
                    <a:solidFill>
                      <a:schemeClr val="bg1"/>
                    </a:solidFill>
                  </a:tcPr>
                </a:tc>
              </a:tr>
              <a:tr h="370840">
                <a:tc>
                  <a:txBody>
                    <a:bodyPr/>
                    <a:lstStyle/>
                    <a:p>
                      <a:pPr algn="just"/>
                      <a:r>
                        <a:rPr lang="en-US" sz="1600" dirty="0" smtClean="0">
                          <a:latin typeface="Times New Roman" panose="02020603050405020304" pitchFamily="18" charset="0"/>
                          <a:cs typeface="Times New Roman" panose="02020603050405020304" pitchFamily="18" charset="0"/>
                        </a:rPr>
                        <a:t>3.</a:t>
                      </a:r>
                    </a:p>
                  </a:txBody>
                  <a:tcPr>
                    <a:solidFill>
                      <a:schemeClr val="bg1"/>
                    </a:solidFill>
                  </a:tcPr>
                </a:tc>
                <a:tc>
                  <a:txBody>
                    <a:bodyPr/>
                    <a:lstStyle/>
                    <a:p>
                      <a:pPr algn="l"/>
                      <a:r>
                        <a:rPr lang="en-US" altLang="en-US" sz="1600" dirty="0">
                          <a:latin typeface="Cambria" panose="02040503050406030204" charset="0"/>
                          <a:cs typeface="Cambria" panose="02040503050406030204" charset="0"/>
                          <a:sym typeface="+mn-ea"/>
                        </a:rPr>
                        <a:t>YANA, Virtual Assistant to Support Home Office</a:t>
                      </a:r>
                    </a:p>
                  </a:txBody>
                  <a:tcPr>
                    <a:solidFill>
                      <a:schemeClr val="bg1"/>
                    </a:solidFill>
                  </a:tcPr>
                </a:tc>
                <a:tc>
                  <a:txBody>
                    <a:bodyPr/>
                    <a:lstStyle/>
                    <a:p>
                      <a:pPr algn="l"/>
                      <a:r>
                        <a:rPr lang="en-US" altLang="en-US" sz="1600" dirty="0">
                          <a:latin typeface="Times New Roman" panose="02020603050405020304" pitchFamily="18" charset="0"/>
                          <a:cs typeface="Times New Roman" panose="02020603050405020304" pitchFamily="18" charset="0"/>
                        </a:rPr>
                        <a:t>Witman Alvarado-Díaz; Brian Meneses-Claudio</a:t>
                      </a:r>
                    </a:p>
                  </a:txBody>
                  <a:tcPr>
                    <a:solidFill>
                      <a:schemeClr val="bg1"/>
                    </a:solidFill>
                  </a:tcPr>
                </a:tc>
                <a:tc>
                  <a:txBody>
                    <a:bodyPr/>
                    <a:lstStyle/>
                    <a:p>
                      <a:pPr algn="just"/>
                      <a:r>
                        <a:rPr lang="en-US" sz="1600" dirty="0" smtClean="0">
                          <a:latin typeface="Times New Roman" panose="02020603050405020304" pitchFamily="18" charset="0"/>
                          <a:cs typeface="Times New Roman" panose="02020603050405020304" pitchFamily="18" charset="0"/>
                        </a:rPr>
                        <a:t>2021</a:t>
                      </a:r>
                    </a:p>
                  </a:txBody>
                  <a:tcPr>
                    <a:solidFill>
                      <a:schemeClr val="bg1"/>
                    </a:solidFill>
                  </a:tcPr>
                </a:tc>
                <a:tc>
                  <a:txBody>
                    <a:bodyPr/>
                    <a:lstStyle/>
                    <a:p>
                      <a:pPr algn="just"/>
                      <a:r>
                        <a:rPr lang="en-US" altLang="en-US" sz="1600" kern="1200" dirty="0" smtClean="0">
                          <a:solidFill>
                            <a:schemeClr val="dk1"/>
                          </a:solidFill>
                          <a:effectLst/>
                          <a:latin typeface="Times New Roman" panose="02020603050405020304" pitchFamily="18" charset="0"/>
                          <a:ea typeface="+mn-ea"/>
                          <a:cs typeface="Times New Roman" panose="02020603050405020304" pitchFamily="18" charset="0"/>
                        </a:rPr>
                        <a:t>Since the last months of 2019 with the arrival of COVID-19, jobs changed due to confinement; for this reason remote work increased; In a survey carried out among workers from the Universidad de Ciencias y Humanidades, the desire to improve the organization of their work schedule is mentioned</a:t>
                      </a:r>
                    </a:p>
                  </a:txBody>
                  <a:tcPr>
                    <a:solidFill>
                      <a:schemeClr val="bg1"/>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4630"/>
            <a:ext cx="10515600" cy="655320"/>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LITERATURE REVIEW</a:t>
            </a:r>
            <a:endParaRPr lang="en-US" sz="2800" b="1" dirty="0">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nvPr>
        </p:nvGraphicFramePr>
        <p:xfrm>
          <a:off x="863600" y="728663"/>
          <a:ext cx="10515600" cy="5034280"/>
        </p:xfrm>
        <a:graphic>
          <a:graphicData uri="http://schemas.openxmlformats.org/drawingml/2006/table">
            <a:tbl>
              <a:tblPr firstRow="1" bandRow="1">
                <a:tableStyleId>{5C22544A-7EE6-4342-B048-85BDC9FD1C3A}</a:tableStyleId>
              </a:tblPr>
              <a:tblGrid>
                <a:gridCol w="795383"/>
                <a:gridCol w="1867988"/>
                <a:gridCol w="1828800"/>
                <a:gridCol w="1031966"/>
                <a:gridCol w="4991463"/>
              </a:tblGrid>
              <a:tr h="370840">
                <a:tc>
                  <a:txBody>
                    <a:bodyPr/>
                    <a:lstStyle/>
                    <a:p>
                      <a:pPr algn="ctr"/>
                      <a:r>
                        <a:rPr lang="en-US" dirty="0" smtClean="0">
                          <a:solidFill>
                            <a:schemeClr val="tx1">
                              <a:lumMod val="95000"/>
                              <a:lumOff val="5000"/>
                            </a:schemeClr>
                          </a:solidFill>
                          <a:latin typeface="Times New Roman" panose="02020603050405020304" pitchFamily="18" charset="0"/>
                          <a:cs typeface="Times New Roman" panose="02020603050405020304" pitchFamily="18" charset="0"/>
                        </a:rPr>
                        <a:t>S no</a:t>
                      </a: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ctr"/>
                      <a:r>
                        <a:rPr lang="en-US" dirty="0" smtClean="0">
                          <a:solidFill>
                            <a:schemeClr val="tx1">
                              <a:lumMod val="95000"/>
                              <a:lumOff val="5000"/>
                            </a:schemeClr>
                          </a:solidFill>
                          <a:latin typeface="Times New Roman" panose="02020603050405020304" pitchFamily="18" charset="0"/>
                          <a:cs typeface="Times New Roman" panose="02020603050405020304" pitchFamily="18" charset="0"/>
                        </a:rPr>
                        <a:t>Title </a:t>
                      </a: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ctr"/>
                      <a:r>
                        <a:rPr lang="en-US" dirty="0" smtClean="0">
                          <a:solidFill>
                            <a:schemeClr val="tx1">
                              <a:lumMod val="95000"/>
                              <a:lumOff val="5000"/>
                            </a:schemeClr>
                          </a:solidFill>
                          <a:latin typeface="Times New Roman" panose="02020603050405020304" pitchFamily="18" charset="0"/>
                          <a:cs typeface="Times New Roman" panose="02020603050405020304" pitchFamily="18" charset="0"/>
                        </a:rPr>
                        <a:t>Author </a:t>
                      </a: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ctr"/>
                      <a:r>
                        <a:rPr lang="en-US" dirty="0" smtClean="0">
                          <a:solidFill>
                            <a:schemeClr val="tx1">
                              <a:lumMod val="95000"/>
                              <a:lumOff val="5000"/>
                            </a:schemeClr>
                          </a:solidFill>
                          <a:latin typeface="Times New Roman" panose="02020603050405020304" pitchFamily="18" charset="0"/>
                          <a:cs typeface="Times New Roman" panose="02020603050405020304" pitchFamily="18" charset="0"/>
                        </a:rPr>
                        <a:t>Year </a:t>
                      </a: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ctr"/>
                      <a:r>
                        <a:rPr lang="en-US" dirty="0" smtClean="0">
                          <a:solidFill>
                            <a:schemeClr val="tx1">
                              <a:lumMod val="95000"/>
                              <a:lumOff val="5000"/>
                            </a:schemeClr>
                          </a:solidFill>
                          <a:latin typeface="Times New Roman" panose="02020603050405020304" pitchFamily="18" charset="0"/>
                          <a:cs typeface="Times New Roman" panose="02020603050405020304" pitchFamily="18" charset="0"/>
                        </a:rPr>
                        <a:t>Description</a:t>
                      </a: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solidFill>
                      <a:schemeClr val="bg1"/>
                    </a:solidFill>
                  </a:tcPr>
                </a:tc>
              </a:tr>
              <a:tr h="370840">
                <a:tc>
                  <a:txBody>
                    <a:bodyPr/>
                    <a:lstStyle/>
                    <a:p>
                      <a:pPr algn="just"/>
                      <a:r>
                        <a:rPr lang="en-US" sz="1600" dirty="0" smtClean="0">
                          <a:solidFill>
                            <a:schemeClr val="tx1">
                              <a:lumMod val="95000"/>
                              <a:lumOff val="5000"/>
                            </a:schemeClr>
                          </a:solidFill>
                          <a:latin typeface="Times New Roman" panose="02020603050405020304" pitchFamily="18" charset="0"/>
                          <a:cs typeface="Times New Roman" panose="02020603050405020304" pitchFamily="18" charset="0"/>
                        </a:rPr>
                        <a:t>4.</a:t>
                      </a:r>
                    </a:p>
                  </a:txBody>
                  <a:tcPr>
                    <a:solidFill>
                      <a:schemeClr val="bg1"/>
                    </a:solidFill>
                  </a:tcPr>
                </a:tc>
                <a:tc>
                  <a:txBody>
                    <a:bodyPr/>
                    <a:lstStyle/>
                    <a:p>
                      <a:pPr algn="l"/>
                      <a:r>
                        <a:rPr lang="en-US" altLang="en-US" sz="1600" dirty="0" err="1">
                          <a:solidFill>
                            <a:schemeClr val="tx1">
                              <a:lumMod val="95000"/>
                              <a:lumOff val="5000"/>
                            </a:schemeClr>
                          </a:solidFill>
                          <a:latin typeface="Cambria" panose="02040503050406030204" charset="0"/>
                          <a:cs typeface="Cambria" panose="02040503050406030204" charset="0"/>
                          <a:sym typeface="+mn-ea"/>
                        </a:rPr>
                        <a:t>Chatbot</a:t>
                      </a:r>
                      <a:r>
                        <a:rPr lang="en-US" altLang="en-US" sz="1600" dirty="0">
                          <a:solidFill>
                            <a:schemeClr val="tx1">
                              <a:lumMod val="95000"/>
                              <a:lumOff val="5000"/>
                            </a:schemeClr>
                          </a:solidFill>
                          <a:latin typeface="Cambria" panose="02040503050406030204" charset="0"/>
                          <a:cs typeface="Cambria" panose="02040503050406030204" charset="0"/>
                          <a:sym typeface="+mn-ea"/>
                        </a:rPr>
                        <a:t>: A Voice Based Virtual Assistant</a:t>
                      </a:r>
                    </a:p>
                  </a:txBody>
                  <a:tcPr>
                    <a:solidFill>
                      <a:schemeClr val="bg1"/>
                    </a:solidFill>
                  </a:tcPr>
                </a:tc>
                <a:tc>
                  <a:txBody>
                    <a:bodyPr/>
                    <a:lstStyle/>
                    <a:p>
                      <a:pPr algn="just"/>
                      <a:r>
                        <a:rPr lang="en-US" altLang="en-US" sz="1600" dirty="0">
                          <a:solidFill>
                            <a:schemeClr val="tx1">
                              <a:lumMod val="95000"/>
                              <a:lumOff val="5000"/>
                            </a:schemeClr>
                          </a:solidFill>
                          <a:latin typeface="Times New Roman" panose="02020603050405020304" pitchFamily="18" charset="0"/>
                          <a:cs typeface="Times New Roman" panose="02020603050405020304" pitchFamily="18" charset="0"/>
                        </a:rPr>
                        <a:t>Ashok Kumar B; Rajeswari J; Senthilrani S; Abilashini M; Shivani N</a:t>
                      </a:r>
                    </a:p>
                  </a:txBody>
                  <a:tcPr>
                    <a:solidFill>
                      <a:schemeClr val="bg1"/>
                    </a:solidFill>
                  </a:tcPr>
                </a:tc>
                <a:tc>
                  <a:txBody>
                    <a:bodyPr/>
                    <a:lstStyle/>
                    <a:p>
                      <a:pPr algn="just"/>
                      <a:r>
                        <a:rPr lang="en-US" sz="1600" dirty="0" smtClean="0">
                          <a:solidFill>
                            <a:schemeClr val="tx1">
                              <a:lumMod val="95000"/>
                              <a:lumOff val="5000"/>
                            </a:schemeClr>
                          </a:solidFill>
                          <a:latin typeface="Times New Roman" panose="02020603050405020304" pitchFamily="18" charset="0"/>
                          <a:cs typeface="Times New Roman" panose="02020603050405020304" pitchFamily="18" charset="0"/>
                        </a:rPr>
                        <a:t>2023</a:t>
                      </a:r>
                    </a:p>
                  </a:txBody>
                  <a:tcPr>
                    <a:solidFill>
                      <a:schemeClr val="bg1"/>
                    </a:solidFill>
                  </a:tcPr>
                </a:tc>
                <a:tc>
                  <a:txBody>
                    <a:bodyPr/>
                    <a:lstStyle/>
                    <a:p>
                      <a:pPr algn="just"/>
                      <a:r>
                        <a:rPr lang="en-US" altLang="en-US" sz="1600" kern="1200" dirty="0" smtClean="0">
                          <a:solidFill>
                            <a:schemeClr val="tx1">
                              <a:lumMod val="95000"/>
                              <a:lumOff val="5000"/>
                            </a:schemeClr>
                          </a:solidFill>
                          <a:effectLst/>
                          <a:latin typeface="Times New Roman" panose="02020603050405020304" pitchFamily="18" charset="0"/>
                          <a:ea typeface="+mn-ea"/>
                          <a:cs typeface="Times New Roman" panose="02020603050405020304" pitchFamily="18" charset="0"/>
                        </a:rPr>
                        <a:t>Internet of Things (IoT) has really signified the possibilities of wireless communication. IoT is not only used to send, receive signals between compatible but also used to automate the devices from a remote distance</a:t>
                      </a:r>
                    </a:p>
                  </a:txBody>
                  <a:tcPr>
                    <a:solidFill>
                      <a:schemeClr val="bg1"/>
                    </a:solidFill>
                  </a:tcPr>
                </a:tc>
              </a:tr>
              <a:tr h="370840">
                <a:tc>
                  <a:txBody>
                    <a:bodyPr/>
                    <a:lstStyle/>
                    <a:p>
                      <a:pPr algn="just"/>
                      <a:r>
                        <a:rPr lang="en-US" dirty="0" smtClean="0">
                          <a:solidFill>
                            <a:schemeClr val="tx1">
                              <a:lumMod val="95000"/>
                              <a:lumOff val="5000"/>
                            </a:schemeClr>
                          </a:solidFill>
                          <a:latin typeface="Times New Roman" panose="02020603050405020304" pitchFamily="18" charset="0"/>
                          <a:cs typeface="Times New Roman" panose="02020603050405020304" pitchFamily="18" charset="0"/>
                        </a:rPr>
                        <a:t>5.</a:t>
                      </a:r>
                    </a:p>
                  </a:txBody>
                  <a:tcPr>
                    <a:solidFill>
                      <a:schemeClr val="bg1"/>
                    </a:solidFill>
                  </a:tcPr>
                </a:tc>
                <a:tc>
                  <a:txBody>
                    <a:bodyPr/>
                    <a:lstStyle/>
                    <a:p>
                      <a:pPr algn="l"/>
                      <a:r>
                        <a:rPr lang="en-US" altLang="en-US" sz="1600" dirty="0">
                          <a:solidFill>
                            <a:schemeClr val="tx1">
                              <a:lumMod val="95000"/>
                              <a:lumOff val="5000"/>
                            </a:schemeClr>
                          </a:solidFill>
                          <a:latin typeface="Cambria" panose="02040503050406030204" charset="0"/>
                          <a:cs typeface="Cambria" panose="02040503050406030204" charset="0"/>
                          <a:sym typeface="+mn-ea"/>
                        </a:rPr>
                        <a:t>Virtual Assistant for Enhancing English Speaking Skills</a:t>
                      </a:r>
                    </a:p>
                  </a:txBody>
                  <a:tcPr>
                    <a:solidFill>
                      <a:schemeClr val="bg1"/>
                    </a:solidFill>
                  </a:tcPr>
                </a:tc>
                <a:tc>
                  <a:txBody>
                    <a:bodyPr/>
                    <a:lstStyle/>
                    <a:p>
                      <a:pPr algn="l"/>
                      <a:r>
                        <a:rPr lang="en-US" altLang="en-US" sz="1600" dirty="0">
                          <a:solidFill>
                            <a:schemeClr val="tx1">
                              <a:lumMod val="95000"/>
                              <a:lumOff val="5000"/>
                            </a:schemeClr>
                          </a:solidFill>
                          <a:latin typeface="Times New Roman" panose="02020603050405020304" pitchFamily="18" charset="0"/>
                          <a:cs typeface="Times New Roman" panose="02020603050405020304" pitchFamily="18" charset="0"/>
                        </a:rPr>
                        <a:t>Ayushi Desai; Yash Gandhi; Jaynil Gaglani; Nikahat Mulla</a:t>
                      </a:r>
                    </a:p>
                  </a:txBody>
                  <a:tcPr>
                    <a:solidFill>
                      <a:schemeClr val="bg1"/>
                    </a:solidFill>
                  </a:tcPr>
                </a:tc>
                <a:tc>
                  <a:txBody>
                    <a:bodyPr/>
                    <a:lstStyle/>
                    <a:p>
                      <a:pPr algn="just"/>
                      <a:r>
                        <a:rPr lang="en-US" sz="1600" dirty="0" smtClean="0">
                          <a:solidFill>
                            <a:schemeClr val="tx1">
                              <a:lumMod val="95000"/>
                              <a:lumOff val="5000"/>
                            </a:schemeClr>
                          </a:solidFill>
                          <a:latin typeface="Times New Roman" panose="02020603050405020304" pitchFamily="18" charset="0"/>
                          <a:cs typeface="Times New Roman" panose="02020603050405020304" pitchFamily="18" charset="0"/>
                        </a:rPr>
                        <a:t>2021</a:t>
                      </a:r>
                    </a:p>
                  </a:txBody>
                  <a:tcPr>
                    <a:solidFill>
                      <a:schemeClr val="bg1"/>
                    </a:solidFill>
                  </a:tcPr>
                </a:tc>
                <a:tc>
                  <a:txBody>
                    <a:bodyPr/>
                    <a:lstStyle/>
                    <a:p>
                      <a:pPr algn="just"/>
                      <a:r>
                        <a:rPr lang="en-US" altLang="en-US" sz="1600" kern="1200" dirty="0" smtClean="0">
                          <a:solidFill>
                            <a:schemeClr val="tx1">
                              <a:lumMod val="95000"/>
                              <a:lumOff val="5000"/>
                            </a:schemeClr>
                          </a:solidFill>
                          <a:effectLst/>
                          <a:latin typeface="Times New Roman" panose="02020603050405020304" pitchFamily="18" charset="0"/>
                          <a:ea typeface="+mn-ea"/>
                          <a:cs typeface="Times New Roman" panose="02020603050405020304" pitchFamily="18" charset="0"/>
                        </a:rPr>
                        <a:t>Over the years with the advent of social media and messaging apps, people have been using jargon, abbreviated words, and casual language while chatting with other people. This leads to a lack of conversational skills during interviews, job meetings, or even daily conversations.</a:t>
                      </a:r>
                    </a:p>
                  </a:txBody>
                  <a:tcPr>
                    <a:solidFill>
                      <a:schemeClr val="bg1"/>
                    </a:solidFill>
                  </a:tcPr>
                </a:tc>
              </a:tr>
              <a:tr h="370840">
                <a:tc>
                  <a:txBody>
                    <a:bodyPr/>
                    <a:lstStyle/>
                    <a:p>
                      <a:pPr algn="just">
                        <a:buNone/>
                      </a:pPr>
                      <a:r>
                        <a:rPr lang="en-US" dirty="0" smtClean="0">
                          <a:solidFill>
                            <a:schemeClr val="tx1">
                              <a:lumMod val="95000"/>
                              <a:lumOff val="5000"/>
                            </a:schemeClr>
                          </a:solidFill>
                          <a:latin typeface="Times New Roman" panose="02020603050405020304" pitchFamily="18" charset="0"/>
                          <a:cs typeface="Times New Roman" panose="02020603050405020304" pitchFamily="18" charset="0"/>
                        </a:rPr>
                        <a:t>6.</a:t>
                      </a:r>
                    </a:p>
                  </a:txBody>
                  <a:tcPr>
                    <a:solidFill>
                      <a:schemeClr val="bg1"/>
                    </a:solidFill>
                  </a:tcPr>
                </a:tc>
                <a:tc>
                  <a:txBody>
                    <a:bodyPr/>
                    <a:lstStyle/>
                    <a:p>
                      <a:pPr algn="l">
                        <a:buNone/>
                      </a:pPr>
                      <a:r>
                        <a:rPr lang="en-US" altLang="en-US" sz="1600" dirty="0">
                          <a:solidFill>
                            <a:schemeClr val="tx1">
                              <a:lumMod val="95000"/>
                              <a:lumOff val="5000"/>
                            </a:schemeClr>
                          </a:solidFill>
                          <a:latin typeface="Cambria" panose="02040503050406030204" charset="0"/>
                          <a:cs typeface="Cambria" panose="02040503050406030204" charset="0"/>
                          <a:sym typeface="+mn-ea"/>
                        </a:rPr>
                        <a:t>VR Job Interview Simulator: Where Virtual Reality Meets Artificial Intelligence for Education</a:t>
                      </a:r>
                    </a:p>
                  </a:txBody>
                  <a:tcPr>
                    <a:solidFill>
                      <a:schemeClr val="bg1"/>
                    </a:solidFill>
                  </a:tcPr>
                </a:tc>
                <a:tc>
                  <a:txBody>
                    <a:bodyPr/>
                    <a:lstStyle/>
                    <a:p>
                      <a:pPr algn="l">
                        <a:buNone/>
                      </a:pPr>
                      <a:r>
                        <a:rPr lang="en-US" altLang="en-US" sz="1600" dirty="0">
                          <a:solidFill>
                            <a:schemeClr val="tx1">
                              <a:lumMod val="95000"/>
                              <a:lumOff val="5000"/>
                            </a:schemeClr>
                          </a:solidFill>
                          <a:latin typeface="Times New Roman" panose="02020603050405020304" pitchFamily="18" charset="0"/>
                          <a:cs typeface="Times New Roman" panose="02020603050405020304" pitchFamily="18" charset="0"/>
                        </a:rPr>
                        <a:t>Iulia Stanica; Maria-Iuliana Dascalu; Constanta Nicoleta Bodea; Alin Dragos Bogdan Moldoveanu</a:t>
                      </a:r>
                    </a:p>
                  </a:txBody>
                  <a:tcPr>
                    <a:solidFill>
                      <a:schemeClr val="bg1"/>
                    </a:solidFill>
                  </a:tcPr>
                </a:tc>
                <a:tc>
                  <a:txBody>
                    <a:bodyPr/>
                    <a:lstStyle/>
                    <a:p>
                      <a:pPr algn="just">
                        <a:buNone/>
                      </a:pPr>
                      <a:r>
                        <a:rPr lang="en-US" sz="1600" dirty="0" smtClean="0">
                          <a:solidFill>
                            <a:schemeClr val="tx1">
                              <a:lumMod val="95000"/>
                              <a:lumOff val="5000"/>
                            </a:schemeClr>
                          </a:solidFill>
                          <a:latin typeface="Times New Roman" panose="02020603050405020304" pitchFamily="18" charset="0"/>
                          <a:cs typeface="Times New Roman" panose="02020603050405020304" pitchFamily="18" charset="0"/>
                        </a:rPr>
                        <a:t>2018</a:t>
                      </a:r>
                    </a:p>
                  </a:txBody>
                  <a:tcPr>
                    <a:solidFill>
                      <a:schemeClr val="bg1"/>
                    </a:solidFill>
                  </a:tcPr>
                </a:tc>
                <a:tc>
                  <a:txBody>
                    <a:bodyPr/>
                    <a:lstStyle/>
                    <a:p>
                      <a:pPr algn="just">
                        <a:buNone/>
                      </a:pPr>
                      <a:r>
                        <a:rPr lang="en-US" altLang="en-US" sz="1600" kern="1200" dirty="0" smtClean="0">
                          <a:solidFill>
                            <a:schemeClr val="tx1">
                              <a:lumMod val="95000"/>
                              <a:lumOff val="5000"/>
                            </a:schemeClr>
                          </a:solidFill>
                          <a:effectLst/>
                          <a:latin typeface="Times New Roman" panose="02020603050405020304" pitchFamily="18" charset="0"/>
                          <a:ea typeface="+mn-ea"/>
                          <a:cs typeface="Times New Roman" panose="02020603050405020304" pitchFamily="18" charset="0"/>
                        </a:rPr>
                        <a:t>Nowadays, people have to face many challenges when going to an interview: introversion, insecurity, lack of technical or social skills. Training becomes highly recommended in order to improve interview performances.</a:t>
                      </a:r>
                    </a:p>
                  </a:txBody>
                  <a:tcPr>
                    <a:solidFill>
                      <a:schemeClr val="bg1"/>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4630"/>
            <a:ext cx="10515600" cy="655320"/>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EXISTING SYSTEM</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63958" y="728282"/>
            <a:ext cx="10515600" cy="6129718"/>
          </a:xfrm>
        </p:spPr>
        <p:txBody>
          <a:bodyPr>
            <a:noAutofit/>
          </a:bodyPr>
          <a:lstStyle/>
          <a:p>
            <a:pPr algn="just">
              <a:lnSpc>
                <a:spcPct val="150000"/>
              </a:lnSpc>
            </a:pPr>
            <a:r>
              <a:rPr lang="en-US" sz="2000" dirty="0" smtClean="0">
                <a:latin typeface="Times New Roman" pitchFamily="18" charset="0"/>
                <a:cs typeface="Times New Roman" pitchFamily="18" charset="0"/>
              </a:rPr>
              <a:t>Traditional hiring systems rely heavily on manual screening and interviewer judgment. </a:t>
            </a:r>
          </a:p>
          <a:p>
            <a:pPr algn="just">
              <a:lnSpc>
                <a:spcPct val="150000"/>
              </a:lnSpc>
            </a:pPr>
            <a:r>
              <a:rPr lang="en-US" sz="2000" dirty="0" smtClean="0">
                <a:latin typeface="Times New Roman" pitchFamily="18" charset="0"/>
                <a:cs typeface="Times New Roman" pitchFamily="18" charset="0"/>
              </a:rPr>
              <a:t>Recruiters review resumes one by one, which is time-consuming and prone to human bias or oversight. </a:t>
            </a:r>
          </a:p>
          <a:p>
            <a:pPr algn="just">
              <a:lnSpc>
                <a:spcPct val="150000"/>
              </a:lnSpc>
            </a:pPr>
            <a:r>
              <a:rPr lang="en-US" sz="2000" dirty="0" smtClean="0">
                <a:latin typeface="Times New Roman" pitchFamily="18" charset="0"/>
                <a:cs typeface="Times New Roman" pitchFamily="18" charset="0"/>
              </a:rPr>
              <a:t>Interviews are often conducted over calls or in-person, lacking standardized evaluation criteria. </a:t>
            </a:r>
          </a:p>
          <a:p>
            <a:pPr algn="just">
              <a:lnSpc>
                <a:spcPct val="150000"/>
              </a:lnSpc>
            </a:pPr>
            <a:r>
              <a:rPr lang="en-US" sz="2000" dirty="0" smtClean="0">
                <a:latin typeface="Times New Roman" pitchFamily="18" charset="0"/>
                <a:cs typeface="Times New Roman" pitchFamily="18" charset="0"/>
              </a:rPr>
              <a:t>Identity verification is minimal, making it vulnerable to impersonation in virtual settings. </a:t>
            </a:r>
          </a:p>
          <a:p>
            <a:pPr algn="just">
              <a:lnSpc>
                <a:spcPct val="150000"/>
              </a:lnSpc>
            </a:pPr>
            <a:r>
              <a:rPr lang="en-US" sz="2000" dirty="0" smtClean="0">
                <a:latin typeface="Times New Roman" pitchFamily="18" charset="0"/>
                <a:cs typeface="Times New Roman" pitchFamily="18" charset="0"/>
              </a:rPr>
              <a:t>Feedback to candidates is usually delayed or generic. </a:t>
            </a:r>
          </a:p>
          <a:p>
            <a:pPr algn="just">
              <a:lnSpc>
                <a:spcPct val="150000"/>
              </a:lnSpc>
            </a:pPr>
            <a:r>
              <a:rPr lang="en-US" sz="2000" dirty="0" smtClean="0">
                <a:latin typeface="Times New Roman" pitchFamily="18" charset="0"/>
                <a:cs typeface="Times New Roman" pitchFamily="18" charset="0"/>
              </a:rPr>
              <a:t>These systems offer limited scalability and data analytics, resulting in inconsistent hiring decisions. </a:t>
            </a:r>
          </a:p>
          <a:p>
            <a:pPr algn="just">
              <a:lnSpc>
                <a:spcPct val="150000"/>
              </a:lnSpc>
            </a:pPr>
            <a:r>
              <a:rPr lang="en-US" sz="2000" dirty="0" smtClean="0">
                <a:latin typeface="Times New Roman" pitchFamily="18" charset="0"/>
                <a:cs typeface="Times New Roman" pitchFamily="18" charset="0"/>
              </a:rPr>
              <a:t>Additionally, manual processes increase recruitment time and operational costs, especially for large-scale hiring. </a:t>
            </a:r>
          </a:p>
          <a:p>
            <a:pPr algn="just">
              <a:lnSpc>
                <a:spcPct val="150000"/>
              </a:lnSpc>
            </a:pPr>
            <a:r>
              <a:rPr lang="en-US" sz="2000" dirty="0" smtClean="0">
                <a:latin typeface="Times New Roman" pitchFamily="18" charset="0"/>
                <a:cs typeface="Times New Roman" pitchFamily="18" charset="0"/>
              </a:rPr>
              <a:t>Overall, current methods lack the efficiency, security, and adaptability required for modern recruitment needs.</a:t>
            </a:r>
          </a:p>
          <a:p>
            <a:pPr>
              <a:buNone/>
            </a:pP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4630"/>
            <a:ext cx="10515600" cy="655320"/>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DISADVANTAGES</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63958" y="728282"/>
            <a:ext cx="10515600" cy="6129718"/>
          </a:xfrm>
        </p:spPr>
        <p:txBody>
          <a:bodyPr>
            <a:noAutofit/>
          </a:bodyPr>
          <a:lstStyle/>
          <a:p>
            <a:pPr>
              <a:lnSpc>
                <a:spcPct val="150000"/>
              </a:lnSpc>
              <a:buFont typeface="Wingdings" pitchFamily="2" charset="2"/>
              <a:buChar char="ü"/>
            </a:pPr>
            <a:r>
              <a:rPr lang="en-US" sz="2000" dirty="0" smtClean="0">
                <a:latin typeface="Times New Roman" pitchFamily="18" charset="0"/>
                <a:cs typeface="Times New Roman" pitchFamily="18" charset="0"/>
              </a:rPr>
              <a:t>Time-Consuming</a:t>
            </a:r>
          </a:p>
          <a:p>
            <a:pPr>
              <a:lnSpc>
                <a:spcPct val="150000"/>
              </a:lnSpc>
              <a:buFont typeface="Wingdings" pitchFamily="2" charset="2"/>
              <a:buChar char="ü"/>
            </a:pPr>
            <a:r>
              <a:rPr lang="en-US" sz="2000" dirty="0" smtClean="0">
                <a:latin typeface="Times New Roman" pitchFamily="18" charset="0"/>
                <a:cs typeface="Times New Roman" pitchFamily="18" charset="0"/>
              </a:rPr>
              <a:t>Prone to Human Bias</a:t>
            </a:r>
          </a:p>
          <a:p>
            <a:pPr>
              <a:lnSpc>
                <a:spcPct val="150000"/>
              </a:lnSpc>
              <a:buFont typeface="Wingdings" pitchFamily="2" charset="2"/>
              <a:buChar char="ü"/>
            </a:pPr>
            <a:r>
              <a:rPr lang="en-US" sz="2000" dirty="0" smtClean="0">
                <a:latin typeface="Times New Roman" pitchFamily="18" charset="0"/>
                <a:cs typeface="Times New Roman" pitchFamily="18" charset="0"/>
              </a:rPr>
              <a:t>Lack of Standardization</a:t>
            </a:r>
          </a:p>
          <a:p>
            <a:pPr>
              <a:lnSpc>
                <a:spcPct val="150000"/>
              </a:lnSpc>
              <a:buFont typeface="Wingdings" pitchFamily="2" charset="2"/>
              <a:buChar char="ü"/>
            </a:pPr>
            <a:r>
              <a:rPr lang="en-US" sz="2000" dirty="0" smtClean="0">
                <a:latin typeface="Times New Roman" pitchFamily="18" charset="0"/>
                <a:cs typeface="Times New Roman" pitchFamily="18" charset="0"/>
              </a:rPr>
              <a:t>Weak Identity Verification</a:t>
            </a:r>
          </a:p>
          <a:p>
            <a:pPr>
              <a:lnSpc>
                <a:spcPct val="150000"/>
              </a:lnSpc>
              <a:buFont typeface="Wingdings" pitchFamily="2" charset="2"/>
              <a:buChar char="ü"/>
            </a:pPr>
            <a:r>
              <a:rPr lang="en-US" sz="2000" dirty="0" smtClean="0">
                <a:latin typeface="Times New Roman" pitchFamily="18" charset="0"/>
                <a:cs typeface="Times New Roman" pitchFamily="18" charset="0"/>
              </a:rPr>
              <a:t>Low Data Utilization</a:t>
            </a:r>
          </a:p>
          <a:p>
            <a:pPr>
              <a:lnSpc>
                <a:spcPct val="150000"/>
              </a:lnSpc>
              <a:buFont typeface="Wingdings" pitchFamily="2" charset="2"/>
              <a:buChar char="ü"/>
            </a:pPr>
            <a:r>
              <a:rPr lang="en-US" sz="2000" dirty="0" smtClean="0">
                <a:latin typeface="Times New Roman" pitchFamily="18" charset="0"/>
                <a:cs typeface="Times New Roman" pitchFamily="18" charset="0"/>
              </a:rPr>
              <a:t>Higher Operational Costs</a:t>
            </a:r>
          </a:p>
          <a:p>
            <a:pPr>
              <a:buNone/>
            </a:pP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4630"/>
            <a:ext cx="10515600" cy="655320"/>
          </a:xfrm>
        </p:spPr>
        <p:txBody>
          <a:bodyPr>
            <a:normAutofit/>
          </a:bodyPr>
          <a:lstStyle/>
          <a:p>
            <a:pPr algn="ctr"/>
            <a:r>
              <a:rPr lang="en-US" sz="2800" b="1" dirty="0">
                <a:latin typeface="Times New Roman" panose="02020603050405020304" pitchFamily="18" charset="0"/>
                <a:cs typeface="Times New Roman" panose="02020603050405020304" pitchFamily="18" charset="0"/>
              </a:rPr>
              <a:t>PROPOSED </a:t>
            </a:r>
            <a:r>
              <a:rPr lang="en-US" sz="2800" b="1" dirty="0" smtClean="0">
                <a:latin typeface="Times New Roman" panose="02020603050405020304" pitchFamily="18" charset="0"/>
                <a:cs typeface="Times New Roman" panose="02020603050405020304" pitchFamily="18" charset="0"/>
              </a:rPr>
              <a:t>WORK</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63958" y="728282"/>
            <a:ext cx="10515600" cy="6129718"/>
          </a:xfrm>
        </p:spPr>
        <p:txBody>
          <a:bodyPr>
            <a:noAutofit/>
          </a:bodyPr>
          <a:lstStyle/>
          <a:p>
            <a:pPr algn="just">
              <a:lnSpc>
                <a:spcPct val="150000"/>
              </a:lnSpc>
            </a:pPr>
            <a:r>
              <a:rPr lang="en-US" sz="2000" dirty="0" smtClean="0">
                <a:latin typeface="Times New Roman" pitchFamily="18" charset="0"/>
                <a:cs typeface="Times New Roman" pitchFamily="18" charset="0"/>
              </a:rPr>
              <a:t>This project will develop an intelligent hiring system that revolutionizes candidate evaluation through cutting-edge AI technology. </a:t>
            </a:r>
          </a:p>
          <a:p>
            <a:pPr algn="just">
              <a:lnSpc>
                <a:spcPct val="150000"/>
              </a:lnSpc>
            </a:pPr>
            <a:r>
              <a:rPr lang="en-US" sz="2000" dirty="0" smtClean="0">
                <a:latin typeface="Times New Roman" pitchFamily="18" charset="0"/>
                <a:cs typeface="Times New Roman" pitchFamily="18" charset="0"/>
              </a:rPr>
              <a:t>The platform will automatically analyze uploaded resumes, extracting key qualifications and experience. GPT-4 integration will generate personalized, position-specific questions while adapting follow-ups based on candidate responses in real-time. </a:t>
            </a:r>
          </a:p>
          <a:p>
            <a:pPr algn="just">
              <a:lnSpc>
                <a:spcPct val="150000"/>
              </a:lnSpc>
            </a:pPr>
            <a:r>
              <a:rPr lang="en-US" sz="2000" dirty="0" smtClean="0">
                <a:latin typeface="Times New Roman" pitchFamily="18" charset="0"/>
                <a:cs typeface="Times New Roman" pitchFamily="18" charset="0"/>
              </a:rPr>
              <a:t>A sophisticated facial recognition system will continuously verify applicant identity and detect potential fraud during assessments. </a:t>
            </a:r>
          </a:p>
          <a:p>
            <a:pPr algn="just">
              <a:lnSpc>
                <a:spcPct val="150000"/>
              </a:lnSpc>
            </a:pPr>
            <a:r>
              <a:rPr lang="en-US" sz="2000" dirty="0" smtClean="0">
                <a:latin typeface="Times New Roman" pitchFamily="18" charset="0"/>
                <a:cs typeface="Times New Roman" pitchFamily="18" charset="0"/>
              </a:rPr>
              <a:t>The solution will provide instant feedback to candidates and automated alerts to recruiters regarding any irregularities. </a:t>
            </a:r>
          </a:p>
          <a:p>
            <a:pPr algn="just">
              <a:lnSpc>
                <a:spcPct val="150000"/>
              </a:lnSpc>
            </a:pPr>
            <a:r>
              <a:rPr lang="en-US" sz="2000" dirty="0" smtClean="0">
                <a:latin typeface="Times New Roman" pitchFamily="18" charset="0"/>
                <a:cs typeface="Times New Roman" pitchFamily="18" charset="0"/>
              </a:rPr>
              <a:t>Built with secure Python backend and </a:t>
            </a:r>
            <a:r>
              <a:rPr lang="en-US" sz="2000" dirty="0" err="1" smtClean="0">
                <a:latin typeface="Times New Roman" pitchFamily="18" charset="0"/>
                <a:cs typeface="Times New Roman" pitchFamily="18" charset="0"/>
              </a:rPr>
              <a:t>OpenCV</a:t>
            </a:r>
            <a:r>
              <a:rPr lang="en-US" sz="2000" dirty="0" smtClean="0">
                <a:latin typeface="Times New Roman" pitchFamily="18" charset="0"/>
                <a:cs typeface="Times New Roman" pitchFamily="18" charset="0"/>
              </a:rPr>
              <a:t> integration, this system promises to reduce hiring time by 60% while improving assessment quality through data-driven insights and robust anti-fraud measures.</a:t>
            </a:r>
            <a:endParaRPr lang="en-US" altLang="en-US" sz="2000" dirty="0">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4630"/>
            <a:ext cx="10515600" cy="655320"/>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ADVANTAGES</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63958" y="728282"/>
            <a:ext cx="10515600" cy="6129718"/>
          </a:xfrm>
        </p:spPr>
        <p:txBody>
          <a:bodyPr>
            <a:noAutofit/>
          </a:bodyPr>
          <a:lstStyle/>
          <a:p>
            <a:pPr>
              <a:lnSpc>
                <a:spcPct val="150000"/>
              </a:lnSpc>
              <a:buFont typeface="Wingdings" pitchFamily="2" charset="2"/>
              <a:buChar char="ü"/>
            </a:pPr>
            <a:r>
              <a:rPr lang="en-US" sz="2000" dirty="0" smtClean="0">
                <a:latin typeface="Times New Roman" pitchFamily="18" charset="0"/>
                <a:cs typeface="Times New Roman" pitchFamily="18" charset="0"/>
              </a:rPr>
              <a:t>Automated &amp; Intelligent Candidate Evaluation</a:t>
            </a:r>
          </a:p>
          <a:p>
            <a:pPr>
              <a:lnSpc>
                <a:spcPct val="150000"/>
              </a:lnSpc>
              <a:buFont typeface="Wingdings" pitchFamily="2" charset="2"/>
              <a:buChar char="ü"/>
            </a:pPr>
            <a:r>
              <a:rPr lang="en-US" sz="2000" dirty="0" smtClean="0">
                <a:latin typeface="Times New Roman" pitchFamily="18" charset="0"/>
                <a:cs typeface="Times New Roman" pitchFamily="18" charset="0"/>
              </a:rPr>
              <a:t>Adaptive Interview Experience</a:t>
            </a:r>
          </a:p>
          <a:p>
            <a:pPr>
              <a:lnSpc>
                <a:spcPct val="150000"/>
              </a:lnSpc>
              <a:buFont typeface="Wingdings" pitchFamily="2" charset="2"/>
              <a:buChar char="ü"/>
            </a:pPr>
            <a:r>
              <a:rPr lang="en-US" sz="2000" dirty="0" smtClean="0">
                <a:latin typeface="Times New Roman" pitchFamily="18" charset="0"/>
                <a:cs typeface="Times New Roman" pitchFamily="18" charset="0"/>
              </a:rPr>
              <a:t>Improved Candidate Experience</a:t>
            </a:r>
          </a:p>
          <a:p>
            <a:pPr>
              <a:lnSpc>
                <a:spcPct val="150000"/>
              </a:lnSpc>
              <a:buFont typeface="Wingdings" pitchFamily="2" charset="2"/>
              <a:buChar char="ü"/>
            </a:pPr>
            <a:r>
              <a:rPr lang="en-US" sz="2000" dirty="0" smtClean="0">
                <a:latin typeface="Times New Roman" pitchFamily="18" charset="0"/>
                <a:cs typeface="Times New Roman" pitchFamily="18" charset="0"/>
              </a:rPr>
              <a:t>Faster Hiring Process</a:t>
            </a:r>
          </a:p>
          <a:p>
            <a:pPr>
              <a:lnSpc>
                <a:spcPct val="150000"/>
              </a:lnSpc>
              <a:buFont typeface="Wingdings" pitchFamily="2" charset="2"/>
              <a:buChar char="ü"/>
            </a:pPr>
            <a:r>
              <a:rPr lang="en-US" sz="2000" dirty="0" smtClean="0">
                <a:latin typeface="Times New Roman" pitchFamily="18" charset="0"/>
                <a:cs typeface="Times New Roman" pitchFamily="18" charset="0"/>
              </a:rPr>
              <a:t>High Security &amp; Data Integrity</a:t>
            </a:r>
          </a:p>
          <a:p>
            <a:pPr algn="just">
              <a:lnSpc>
                <a:spcPct val="150000"/>
              </a:lnSpc>
            </a:pPr>
            <a:endParaRPr lang="en-US" altLang="en-US" sz="2000" dirty="0">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ARCHITECTURE </a:t>
            </a:r>
            <a:r>
              <a:rPr lang="en-US" sz="2800" b="1" dirty="0">
                <a:latin typeface="Times New Roman" panose="02020603050405020304" pitchFamily="18" charset="0"/>
                <a:cs typeface="Times New Roman" panose="02020603050405020304" pitchFamily="18" charset="0"/>
              </a:rPr>
              <a:t>DIAGRAM </a:t>
            </a:r>
          </a:p>
        </p:txBody>
      </p:sp>
      <p:pic>
        <p:nvPicPr>
          <p:cNvPr id="24580" name="Picture 4" descr="user icon user icon user icon png file PNG &amp; clipart images | Citypng"/>
          <p:cNvPicPr>
            <a:picLocks noChangeAspect="1" noChangeArrowheads="1"/>
          </p:cNvPicPr>
          <p:nvPr/>
        </p:nvPicPr>
        <p:blipFill>
          <a:blip r:embed="rId2" cstate="print"/>
          <a:srcRect/>
          <a:stretch>
            <a:fillRect/>
          </a:stretch>
        </p:blipFill>
        <p:spPr bwMode="auto">
          <a:xfrm>
            <a:off x="657853" y="1751527"/>
            <a:ext cx="1339402" cy="1339402"/>
          </a:xfrm>
          <a:prstGeom prst="rect">
            <a:avLst/>
          </a:prstGeom>
          <a:noFill/>
        </p:spPr>
      </p:pic>
      <p:sp>
        <p:nvSpPr>
          <p:cNvPr id="6" name="Rounded Rectangle 5"/>
          <p:cNvSpPr/>
          <p:nvPr/>
        </p:nvSpPr>
        <p:spPr>
          <a:xfrm>
            <a:off x="2884868" y="1931830"/>
            <a:ext cx="1983346" cy="9659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tx1">
                    <a:lumMod val="95000"/>
                    <a:lumOff val="5000"/>
                  </a:schemeClr>
                </a:solidFill>
                <a:latin typeface="Times New Roman" pitchFamily="18" charset="0"/>
                <a:cs typeface="Times New Roman" pitchFamily="18" charset="0"/>
              </a:rPr>
              <a:t>REGISTER</a:t>
            </a:r>
            <a:endParaRPr lang="en-US" sz="1400" b="1" dirty="0">
              <a:solidFill>
                <a:schemeClr val="tx1">
                  <a:lumMod val="95000"/>
                  <a:lumOff val="5000"/>
                </a:schemeClr>
              </a:solidFill>
              <a:latin typeface="Times New Roman" pitchFamily="18" charset="0"/>
              <a:cs typeface="Times New Roman" pitchFamily="18" charset="0"/>
            </a:endParaRPr>
          </a:p>
        </p:txBody>
      </p:sp>
      <p:sp>
        <p:nvSpPr>
          <p:cNvPr id="8" name="Rounded Rectangle 7"/>
          <p:cNvSpPr/>
          <p:nvPr/>
        </p:nvSpPr>
        <p:spPr>
          <a:xfrm>
            <a:off x="5793347" y="1942563"/>
            <a:ext cx="1983346" cy="9659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tx1">
                    <a:lumMod val="95000"/>
                    <a:lumOff val="5000"/>
                  </a:schemeClr>
                </a:solidFill>
                <a:latin typeface="Times New Roman" pitchFamily="18" charset="0"/>
                <a:cs typeface="Times New Roman" pitchFamily="18" charset="0"/>
              </a:rPr>
              <a:t>LOGIN</a:t>
            </a:r>
            <a:endParaRPr lang="en-US" sz="1400" b="1" dirty="0">
              <a:solidFill>
                <a:schemeClr val="tx1">
                  <a:lumMod val="95000"/>
                  <a:lumOff val="5000"/>
                </a:schemeClr>
              </a:solidFill>
              <a:latin typeface="Times New Roman" pitchFamily="18" charset="0"/>
              <a:cs typeface="Times New Roman" pitchFamily="18" charset="0"/>
            </a:endParaRPr>
          </a:p>
        </p:txBody>
      </p:sp>
      <p:sp>
        <p:nvSpPr>
          <p:cNvPr id="9" name="Rounded Rectangle 8"/>
          <p:cNvSpPr/>
          <p:nvPr/>
        </p:nvSpPr>
        <p:spPr>
          <a:xfrm>
            <a:off x="8766219" y="1940418"/>
            <a:ext cx="1983346" cy="9659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tx1"/>
                </a:solidFill>
                <a:latin typeface="Times New Roman" pitchFamily="18" charset="0"/>
                <a:cs typeface="Times New Roman" pitchFamily="18" charset="0"/>
              </a:rPr>
              <a:t>RESUME UPLOAD</a:t>
            </a:r>
            <a:endParaRPr lang="en-US" sz="1400" b="1" dirty="0">
              <a:solidFill>
                <a:schemeClr val="tx1"/>
              </a:solidFill>
              <a:latin typeface="Times New Roman" pitchFamily="18" charset="0"/>
              <a:cs typeface="Times New Roman" pitchFamily="18" charset="0"/>
            </a:endParaRPr>
          </a:p>
        </p:txBody>
      </p:sp>
      <p:sp>
        <p:nvSpPr>
          <p:cNvPr id="10" name="Diamond 9"/>
          <p:cNvSpPr/>
          <p:nvPr/>
        </p:nvSpPr>
        <p:spPr>
          <a:xfrm>
            <a:off x="8564451" y="3876541"/>
            <a:ext cx="2421229" cy="1481071"/>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tx1"/>
                </a:solidFill>
                <a:latin typeface="Times New Roman" pitchFamily="18" charset="0"/>
                <a:cs typeface="Times New Roman" pitchFamily="18" charset="0"/>
              </a:rPr>
              <a:t>GPT-4 </a:t>
            </a:r>
          </a:p>
          <a:p>
            <a:pPr algn="ctr"/>
            <a:r>
              <a:rPr lang="en-US" sz="1400" b="1" dirty="0" smtClean="0">
                <a:solidFill>
                  <a:schemeClr val="tx1"/>
                </a:solidFill>
                <a:latin typeface="Times New Roman" pitchFamily="18" charset="0"/>
                <a:cs typeface="Times New Roman" pitchFamily="18" charset="0"/>
              </a:rPr>
              <a:t>ASSISTANT</a:t>
            </a:r>
            <a:endParaRPr lang="en-US" sz="1400" b="1" dirty="0">
              <a:solidFill>
                <a:schemeClr val="tx1"/>
              </a:solidFill>
              <a:latin typeface="Times New Roman" pitchFamily="18" charset="0"/>
              <a:cs typeface="Times New Roman" pitchFamily="18" charset="0"/>
            </a:endParaRPr>
          </a:p>
        </p:txBody>
      </p:sp>
      <p:sp>
        <p:nvSpPr>
          <p:cNvPr id="11" name="Rounded Rectangle 10"/>
          <p:cNvSpPr/>
          <p:nvPr/>
        </p:nvSpPr>
        <p:spPr>
          <a:xfrm>
            <a:off x="5907110" y="4116948"/>
            <a:ext cx="1983346" cy="9659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tx1"/>
                </a:solidFill>
                <a:latin typeface="Times New Roman" pitchFamily="18" charset="0"/>
                <a:cs typeface="Times New Roman" pitchFamily="18" charset="0"/>
              </a:rPr>
              <a:t>QUESTION ANALYSIS</a:t>
            </a:r>
            <a:endParaRPr lang="en-US" sz="1400" b="1" dirty="0">
              <a:solidFill>
                <a:schemeClr val="tx1"/>
              </a:solidFill>
              <a:latin typeface="Times New Roman" pitchFamily="18" charset="0"/>
              <a:cs typeface="Times New Roman" pitchFamily="18" charset="0"/>
            </a:endParaRPr>
          </a:p>
        </p:txBody>
      </p:sp>
      <p:sp>
        <p:nvSpPr>
          <p:cNvPr id="12" name="Rounded Rectangle 11"/>
          <p:cNvSpPr/>
          <p:nvPr/>
        </p:nvSpPr>
        <p:spPr>
          <a:xfrm>
            <a:off x="2839793" y="4114802"/>
            <a:ext cx="1983346" cy="9659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tx1"/>
                </a:solidFill>
                <a:latin typeface="Times New Roman" pitchFamily="18" charset="0"/>
                <a:cs typeface="Times New Roman" pitchFamily="18" charset="0"/>
              </a:rPr>
              <a:t>USER RESPONSE </a:t>
            </a:r>
            <a:endParaRPr lang="en-US" sz="1400" b="1" dirty="0">
              <a:solidFill>
                <a:schemeClr val="tx1"/>
              </a:solidFill>
              <a:latin typeface="Times New Roman" pitchFamily="18" charset="0"/>
              <a:cs typeface="Times New Roman" pitchFamily="18" charset="0"/>
            </a:endParaRPr>
          </a:p>
        </p:txBody>
      </p:sp>
      <p:sp>
        <p:nvSpPr>
          <p:cNvPr id="13" name="Rounded Rectangle 12"/>
          <p:cNvSpPr/>
          <p:nvPr/>
        </p:nvSpPr>
        <p:spPr>
          <a:xfrm>
            <a:off x="416418" y="5361906"/>
            <a:ext cx="1983346" cy="9659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tx1"/>
                </a:solidFill>
                <a:latin typeface="Times New Roman" pitchFamily="18" charset="0"/>
                <a:cs typeface="Times New Roman" pitchFamily="18" charset="0"/>
              </a:rPr>
              <a:t>FEED BACK</a:t>
            </a:r>
            <a:endParaRPr lang="en-US" sz="1400" b="1" dirty="0">
              <a:solidFill>
                <a:schemeClr val="tx1"/>
              </a:solidFill>
              <a:latin typeface="Times New Roman" pitchFamily="18" charset="0"/>
              <a:cs typeface="Times New Roman" pitchFamily="18" charset="0"/>
            </a:endParaRPr>
          </a:p>
        </p:txBody>
      </p:sp>
      <p:cxnSp>
        <p:nvCxnSpPr>
          <p:cNvPr id="16" name="Straight Arrow Connector 15"/>
          <p:cNvCxnSpPr>
            <a:stCxn id="24580" idx="3"/>
            <a:endCxn id="6" idx="1"/>
          </p:cNvCxnSpPr>
          <p:nvPr/>
        </p:nvCxnSpPr>
        <p:spPr>
          <a:xfrm flipV="1">
            <a:off x="1997255" y="2414788"/>
            <a:ext cx="887613" cy="64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6" idx="3"/>
            <a:endCxn id="8" idx="1"/>
          </p:cNvCxnSpPr>
          <p:nvPr/>
        </p:nvCxnSpPr>
        <p:spPr>
          <a:xfrm>
            <a:off x="4868214" y="2414788"/>
            <a:ext cx="925133" cy="1073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8" idx="3"/>
            <a:endCxn id="9" idx="1"/>
          </p:cNvCxnSpPr>
          <p:nvPr/>
        </p:nvCxnSpPr>
        <p:spPr>
          <a:xfrm flipV="1">
            <a:off x="7776693" y="2423376"/>
            <a:ext cx="989526" cy="21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9" idx="2"/>
            <a:endCxn id="10" idx="0"/>
          </p:cNvCxnSpPr>
          <p:nvPr/>
        </p:nvCxnSpPr>
        <p:spPr>
          <a:xfrm rot="16200000" flipH="1">
            <a:off x="9281376" y="3382850"/>
            <a:ext cx="970207" cy="1717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0" idx="1"/>
            <a:endCxn id="11" idx="3"/>
          </p:cNvCxnSpPr>
          <p:nvPr/>
        </p:nvCxnSpPr>
        <p:spPr>
          <a:xfrm rot="10800000">
            <a:off x="7890457" y="4599907"/>
            <a:ext cx="673995" cy="171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11" idx="1"/>
            <a:endCxn id="12" idx="3"/>
          </p:cNvCxnSpPr>
          <p:nvPr/>
        </p:nvCxnSpPr>
        <p:spPr>
          <a:xfrm rot="10800000">
            <a:off x="4823140" y="4597760"/>
            <a:ext cx="1083971" cy="214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4" name="Shape 43"/>
          <p:cNvCxnSpPr>
            <a:stCxn id="12" idx="1"/>
            <a:endCxn id="13" idx="0"/>
          </p:cNvCxnSpPr>
          <p:nvPr/>
        </p:nvCxnSpPr>
        <p:spPr>
          <a:xfrm rot="10800000" flipV="1">
            <a:off x="1408091" y="4597760"/>
            <a:ext cx="1431702" cy="764146"/>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1043188" y="3142445"/>
            <a:ext cx="940158" cy="307777"/>
          </a:xfrm>
          <a:prstGeom prst="rect">
            <a:avLst/>
          </a:prstGeom>
          <a:noFill/>
        </p:spPr>
        <p:txBody>
          <a:bodyPr wrap="square" rtlCol="0">
            <a:spAutoFit/>
          </a:bodyPr>
          <a:lstStyle/>
          <a:p>
            <a:r>
              <a:rPr lang="en-US" sz="1400" b="1" dirty="0" smtClean="0">
                <a:latin typeface="Times New Roman" pitchFamily="18" charset="0"/>
                <a:cs typeface="Times New Roman" pitchFamily="18" charset="0"/>
              </a:rPr>
              <a:t>USER</a:t>
            </a:r>
            <a:endParaRPr lang="en-US" sz="1400" b="1" dirty="0">
              <a:latin typeface="Times New Roman" pitchFamily="18"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4630"/>
            <a:ext cx="10515600" cy="655320"/>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MODULES </a:t>
            </a:r>
            <a:r>
              <a:rPr lang="en-US" sz="2800" b="1" dirty="0" smtClean="0">
                <a:latin typeface="Times New Roman" panose="02020603050405020304" pitchFamily="18" charset="0"/>
                <a:cs typeface="Times New Roman" panose="02020603050405020304" pitchFamily="18" charset="0"/>
              </a:rPr>
              <a:t>LIST</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63958" y="728282"/>
            <a:ext cx="10515600" cy="6129718"/>
          </a:xfrm>
        </p:spPr>
        <p:txBody>
          <a:bodyPr>
            <a:noAutofit/>
          </a:bodyPr>
          <a:lstStyle/>
          <a:p>
            <a:pPr algn="just">
              <a:lnSpc>
                <a:spcPct val="150000"/>
              </a:lnSpc>
            </a:pPr>
            <a:r>
              <a:rPr lang="en-US" sz="2000" dirty="0" smtClean="0">
                <a:latin typeface="Times New Roman" pitchFamily="18" charset="0"/>
                <a:cs typeface="Times New Roman" pitchFamily="18" charset="0"/>
              </a:rPr>
              <a:t>User Management Module </a:t>
            </a:r>
          </a:p>
          <a:p>
            <a:pPr algn="just">
              <a:lnSpc>
                <a:spcPct val="150000"/>
              </a:lnSpc>
            </a:pPr>
            <a:r>
              <a:rPr lang="en-US" sz="2000" dirty="0" smtClean="0">
                <a:latin typeface="Times New Roman" pitchFamily="18" charset="0"/>
                <a:cs typeface="Times New Roman" pitchFamily="18" charset="0"/>
              </a:rPr>
              <a:t>Resume Processing Module </a:t>
            </a:r>
          </a:p>
          <a:p>
            <a:pPr algn="just">
              <a:lnSpc>
                <a:spcPct val="150000"/>
              </a:lnSpc>
            </a:pPr>
            <a:r>
              <a:rPr lang="en-US" sz="2000" dirty="0" smtClean="0">
                <a:latin typeface="Times New Roman" pitchFamily="18" charset="0"/>
                <a:cs typeface="Times New Roman" pitchFamily="18" charset="0"/>
              </a:rPr>
              <a:t>AI Analysis Module </a:t>
            </a:r>
          </a:p>
          <a:p>
            <a:pPr algn="just">
              <a:lnSpc>
                <a:spcPct val="150000"/>
              </a:lnSpc>
            </a:pPr>
            <a:r>
              <a:rPr lang="en-US" sz="2000" dirty="0" smtClean="0">
                <a:latin typeface="Times New Roman" pitchFamily="18" charset="0"/>
                <a:cs typeface="Times New Roman" pitchFamily="18" charset="0"/>
              </a:rPr>
              <a:t>Interview Module </a:t>
            </a:r>
          </a:p>
          <a:p>
            <a:pPr algn="just">
              <a:lnSpc>
                <a:spcPct val="150000"/>
              </a:lnSpc>
            </a:pPr>
            <a:r>
              <a:rPr lang="en-US" sz="2000" dirty="0" smtClean="0">
                <a:latin typeface="Times New Roman" pitchFamily="18" charset="0"/>
                <a:cs typeface="Times New Roman" pitchFamily="18" charset="0"/>
              </a:rPr>
              <a:t>Biometric Verification Module </a:t>
            </a:r>
          </a:p>
          <a:p>
            <a:pPr algn="just">
              <a:lnSpc>
                <a:spcPct val="150000"/>
              </a:lnSpc>
            </a:pPr>
            <a:r>
              <a:rPr lang="en-US" sz="2000" dirty="0" smtClean="0">
                <a:latin typeface="Times New Roman" pitchFamily="18" charset="0"/>
                <a:cs typeface="Times New Roman" pitchFamily="18" charset="0"/>
              </a:rPr>
              <a:t>Reporting Module </a:t>
            </a:r>
          </a:p>
          <a:p>
            <a:pPr algn="just">
              <a:lnSpc>
                <a:spcPct val="150000"/>
              </a:lnSpc>
            </a:pPr>
            <a:r>
              <a:rPr lang="en-US" sz="2000" dirty="0" smtClean="0">
                <a:latin typeface="Times New Roman" pitchFamily="18" charset="0"/>
                <a:cs typeface="Times New Roman" pitchFamily="18" charset="0"/>
              </a:rPr>
              <a:t>Notification Module </a:t>
            </a:r>
          </a:p>
          <a:p>
            <a:pPr algn="just">
              <a:lnSpc>
                <a:spcPct val="150000"/>
              </a:lnSpc>
            </a:pPr>
            <a:r>
              <a:rPr lang="en-US" sz="2000" dirty="0" smtClean="0">
                <a:latin typeface="Times New Roman" pitchFamily="18" charset="0"/>
                <a:cs typeface="Times New Roman" pitchFamily="18" charset="0"/>
              </a:rPr>
              <a:t>Admin Module</a:t>
            </a:r>
            <a:endParaRPr lang="en-US" altLang="en-US" sz="2000"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4630"/>
            <a:ext cx="10515600" cy="655320"/>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MODULES </a:t>
            </a:r>
            <a:r>
              <a:rPr lang="en-US" sz="2800" b="1" dirty="0" smtClean="0">
                <a:latin typeface="Times New Roman" panose="02020603050405020304" pitchFamily="18" charset="0"/>
                <a:cs typeface="Times New Roman" panose="02020603050405020304" pitchFamily="18" charset="0"/>
              </a:rPr>
              <a:t>DESCRIPTION</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63958" y="728282"/>
            <a:ext cx="10515600" cy="6129718"/>
          </a:xfrm>
        </p:spPr>
        <p:txBody>
          <a:bodyPr>
            <a:noAutofit/>
          </a:bodyPr>
          <a:lstStyle/>
          <a:p>
            <a:pPr>
              <a:lnSpc>
                <a:spcPct val="150000"/>
              </a:lnSpc>
              <a:buNone/>
            </a:pPr>
            <a:r>
              <a:rPr lang="en-US" sz="2000" b="1" dirty="0" smtClean="0">
                <a:latin typeface="Times New Roman" pitchFamily="18" charset="0"/>
                <a:cs typeface="Times New Roman" pitchFamily="18" charset="0"/>
              </a:rPr>
              <a:t>1. User Management Module</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Handles registration, login, authentication, and role-based access control for candidates, recruiters, and </a:t>
            </a:r>
            <a:r>
              <a:rPr lang="en-US" sz="2000" dirty="0" err="1" smtClean="0">
                <a:latin typeface="Times New Roman" pitchFamily="18" charset="0"/>
                <a:cs typeface="Times New Roman" pitchFamily="18" charset="0"/>
              </a:rPr>
              <a:t>admins</a:t>
            </a:r>
            <a:r>
              <a:rPr lang="en-US" sz="2000" dirty="0" smtClean="0">
                <a:latin typeface="Times New Roman" pitchFamily="18" charset="0"/>
                <a:cs typeface="Times New Roman" pitchFamily="18" charset="0"/>
              </a:rPr>
              <a:t>.</a:t>
            </a:r>
          </a:p>
          <a:p>
            <a:pPr>
              <a:lnSpc>
                <a:spcPct val="150000"/>
              </a:lnSpc>
              <a:buNone/>
            </a:pPr>
            <a:r>
              <a:rPr lang="en-US" sz="2000" b="1" dirty="0" smtClean="0">
                <a:latin typeface="Times New Roman" pitchFamily="18" charset="0"/>
                <a:cs typeface="Times New Roman" pitchFamily="18" charset="0"/>
              </a:rPr>
              <a:t>2. Resume Processing Module</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Extracts and parses text from uploaded resumes (PDF/image) to structured data (skills, experience, education).</a:t>
            </a:r>
          </a:p>
          <a:p>
            <a:pPr>
              <a:lnSpc>
                <a:spcPct val="150000"/>
              </a:lnSpc>
              <a:buNone/>
            </a:pPr>
            <a:r>
              <a:rPr lang="en-US" sz="2000" b="1" dirty="0" smtClean="0">
                <a:latin typeface="Times New Roman" pitchFamily="18" charset="0"/>
                <a:cs typeface="Times New Roman" pitchFamily="18" charset="0"/>
              </a:rPr>
              <a:t>3. AI Analysis Module</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Scores resumes, identifies competency gaps, and generates questions using GPT-4 integration.</a:t>
            </a:r>
          </a:p>
          <a:p>
            <a:pPr>
              <a:lnSpc>
                <a:spcPct val="150000"/>
              </a:lnSpc>
              <a:buNone/>
            </a:pPr>
            <a:r>
              <a:rPr lang="en-US" sz="2000" b="1" dirty="0" smtClean="0">
                <a:latin typeface="Times New Roman" pitchFamily="18" charset="0"/>
                <a:cs typeface="Times New Roman" pitchFamily="18" charset="0"/>
              </a:rPr>
              <a:t>4. Interview Module</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Conducts adaptive Q&amp;A sessions, evaluates responses, and provides real-time feedback.</a:t>
            </a:r>
          </a:p>
          <a:p>
            <a:pPr>
              <a:lnSpc>
                <a:spcPct val="150000"/>
              </a:lnSpc>
              <a:buNone/>
            </a:pPr>
            <a:r>
              <a:rPr lang="en-US" sz="2000" b="1" dirty="0" smtClean="0">
                <a:latin typeface="Times New Roman" pitchFamily="18" charset="0"/>
                <a:cs typeface="Times New Roman" pitchFamily="18" charset="0"/>
              </a:rPr>
              <a:t>5. Face Analysis Module</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 candidate face identity to the role of session (</a:t>
            </a:r>
            <a:r>
              <a:rPr lang="en-US" sz="2000" dirty="0" err="1" smtClean="0">
                <a:latin typeface="Times New Roman" pitchFamily="18" charset="0"/>
                <a:cs typeface="Times New Roman" pitchFamily="18" charset="0"/>
              </a:rPr>
              <a:t>liveness</a:t>
            </a:r>
            <a:r>
              <a:rPr lang="en-US" sz="2000" dirty="0" smtClean="0">
                <a:latin typeface="Times New Roman" pitchFamily="18" charset="0"/>
                <a:cs typeface="Times New Roman" pitchFamily="18" charset="0"/>
              </a:rPr>
              <a:t> analysis, impersonation).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4630"/>
            <a:ext cx="10515600" cy="655320"/>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MODULES </a:t>
            </a:r>
            <a:r>
              <a:rPr lang="en-US" sz="2800" b="1" dirty="0" smtClean="0">
                <a:latin typeface="Times New Roman" panose="02020603050405020304" pitchFamily="18" charset="0"/>
                <a:cs typeface="Times New Roman" panose="02020603050405020304" pitchFamily="18" charset="0"/>
              </a:rPr>
              <a:t>DESCRIPTION</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63958" y="728282"/>
            <a:ext cx="10515600" cy="6129718"/>
          </a:xfrm>
        </p:spPr>
        <p:txBody>
          <a:bodyPr>
            <a:noAutofit/>
          </a:bodyPr>
          <a:lstStyle/>
          <a:p>
            <a:pPr>
              <a:lnSpc>
                <a:spcPct val="150000"/>
              </a:lnSpc>
            </a:pPr>
            <a:r>
              <a:rPr lang="en-US" sz="2000" b="1" dirty="0" smtClean="0">
                <a:latin typeface="Times New Roman" pitchFamily="18" charset="0"/>
                <a:cs typeface="Times New Roman" pitchFamily="18" charset="0"/>
              </a:rPr>
              <a:t>6. Reporting Module</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Generates candidate performance analytics and recruiter dashboards with actionable insights.</a:t>
            </a:r>
          </a:p>
          <a:p>
            <a:pPr>
              <a:lnSpc>
                <a:spcPct val="150000"/>
              </a:lnSpc>
            </a:pPr>
            <a:r>
              <a:rPr lang="en-US" sz="2000" b="1" dirty="0" smtClean="0">
                <a:latin typeface="Times New Roman" pitchFamily="18" charset="0"/>
                <a:cs typeface="Times New Roman" pitchFamily="18" charset="0"/>
              </a:rPr>
              <a:t>7. Notification Module</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Sends alerts (email/SMS) for system events, fraud detection, and interview updates.</a:t>
            </a:r>
          </a:p>
          <a:p>
            <a:pPr>
              <a:lnSpc>
                <a:spcPct val="150000"/>
              </a:lnSpc>
            </a:pPr>
            <a:r>
              <a:rPr lang="en-US" sz="2000" b="1" dirty="0" smtClean="0">
                <a:latin typeface="Times New Roman" pitchFamily="18" charset="0"/>
                <a:cs typeface="Times New Roman" pitchFamily="18" charset="0"/>
              </a:rPr>
              <a:t>8. Admin Module</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Manages user permissions, system configurations, and audit logs for security compliance.</a:t>
            </a:r>
          </a:p>
          <a:p>
            <a:pPr>
              <a:lnSpc>
                <a:spcPct val="150000"/>
              </a:lnSpc>
            </a:pPr>
            <a:endParaRPr lang="en-US" altLang="en-US" sz="1800" dirty="0">
              <a:latin typeface="Times New Roman" pitchFamily="18" charset="0"/>
              <a:cs typeface="Times New Roman"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8015"/>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RESULT AND DISCUSSION</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17430"/>
            <a:ext cx="10515600" cy="5631563"/>
          </a:xfrm>
        </p:spPr>
        <p:txBody>
          <a:bodyPr>
            <a:normAutofit fontScale="92500" lnSpcReduction="10000"/>
          </a:bodyPr>
          <a:lstStyle/>
          <a:p>
            <a:pPr algn="just">
              <a:lnSpc>
                <a:spcPct val="150000"/>
              </a:lnSpc>
            </a:pPr>
            <a:r>
              <a:rPr lang="en-US" sz="2000" dirty="0" smtClean="0">
                <a:latin typeface="Times New Roman" pitchFamily="18" charset="0"/>
                <a:cs typeface="Times New Roman" pitchFamily="18" charset="0"/>
              </a:rPr>
              <a:t>The developed AI-powered hiring system significantly improved the efficiency and accuracy of candidate evaluations. </a:t>
            </a:r>
            <a:endParaRPr lang="en-US" sz="2000" dirty="0" smtClean="0">
              <a:latin typeface="Times New Roman" pitchFamily="18" charset="0"/>
              <a:cs typeface="Times New Roman" pitchFamily="18" charset="0"/>
            </a:endParaRPr>
          </a:p>
          <a:p>
            <a:pPr algn="just">
              <a:lnSpc>
                <a:spcPct val="150000"/>
              </a:lnSpc>
            </a:pPr>
            <a:r>
              <a:rPr lang="en-US" sz="2000" dirty="0" smtClean="0">
                <a:latin typeface="Times New Roman" pitchFamily="18" charset="0"/>
                <a:cs typeface="Times New Roman" pitchFamily="18" charset="0"/>
              </a:rPr>
              <a:t>Resume </a:t>
            </a:r>
            <a:r>
              <a:rPr lang="en-US" sz="2000" dirty="0" smtClean="0">
                <a:latin typeface="Times New Roman" pitchFamily="18" charset="0"/>
                <a:cs typeface="Times New Roman" pitchFamily="18" charset="0"/>
              </a:rPr>
              <a:t>parsing successfully extracted key qualifications, while GPT-4 generated relevant, adaptive questions tailored to each applicant. </a:t>
            </a:r>
            <a:endParaRPr lang="en-US" sz="2000" dirty="0" smtClean="0">
              <a:latin typeface="Times New Roman" pitchFamily="18" charset="0"/>
              <a:cs typeface="Times New Roman" pitchFamily="18" charset="0"/>
            </a:endParaRPr>
          </a:p>
          <a:p>
            <a:pPr algn="just">
              <a:lnSpc>
                <a:spcPct val="150000"/>
              </a:lnSpc>
            </a:pPr>
            <a:r>
              <a:rPr lang="en-US" sz="2000" dirty="0" smtClean="0">
                <a:latin typeface="Times New Roman" pitchFamily="18" charset="0"/>
                <a:cs typeface="Times New Roman" pitchFamily="18" charset="0"/>
              </a:rPr>
              <a:t>Real-time </a:t>
            </a:r>
            <a:r>
              <a:rPr lang="en-US" sz="2000" dirty="0" smtClean="0">
                <a:latin typeface="Times New Roman" pitchFamily="18" charset="0"/>
                <a:cs typeface="Times New Roman" pitchFamily="18" charset="0"/>
              </a:rPr>
              <a:t>facial recognition ensured identity verification, effectively flagging suspicious activities and preventing impersonation. </a:t>
            </a:r>
            <a:endParaRPr lang="en-US" sz="2000" dirty="0" smtClean="0">
              <a:latin typeface="Times New Roman" pitchFamily="18" charset="0"/>
              <a:cs typeface="Times New Roman" pitchFamily="18" charset="0"/>
            </a:endParaRPr>
          </a:p>
          <a:p>
            <a:pPr algn="just">
              <a:lnSpc>
                <a:spcPct val="150000"/>
              </a:lnSpc>
            </a:pPr>
            <a:r>
              <a:rPr lang="en-US" sz="2000" dirty="0" smtClean="0">
                <a:latin typeface="Times New Roman" pitchFamily="18" charset="0"/>
                <a:cs typeface="Times New Roman" pitchFamily="18" charset="0"/>
              </a:rPr>
              <a:t>Instant </a:t>
            </a:r>
            <a:r>
              <a:rPr lang="en-US" sz="2000" dirty="0" smtClean="0">
                <a:latin typeface="Times New Roman" pitchFamily="18" charset="0"/>
                <a:cs typeface="Times New Roman" pitchFamily="18" charset="0"/>
              </a:rPr>
              <a:t>feedback enhanced candidate engagement, and automated alerts provided quick recruiter intervention. </a:t>
            </a:r>
            <a:endParaRPr lang="en-US" sz="2000" dirty="0" smtClean="0">
              <a:latin typeface="Times New Roman" pitchFamily="18" charset="0"/>
              <a:cs typeface="Times New Roman" pitchFamily="18" charset="0"/>
            </a:endParaRPr>
          </a:p>
          <a:p>
            <a:pPr algn="just">
              <a:lnSpc>
                <a:spcPct val="150000"/>
              </a:lnSpc>
            </a:pPr>
            <a:r>
              <a:rPr lang="en-US" sz="2000" dirty="0" smtClean="0">
                <a:latin typeface="Times New Roman" pitchFamily="18" charset="0"/>
                <a:cs typeface="Times New Roman" pitchFamily="18" charset="0"/>
              </a:rPr>
              <a:t>Testing </a:t>
            </a:r>
            <a:r>
              <a:rPr lang="en-US" sz="2000" dirty="0" smtClean="0">
                <a:latin typeface="Times New Roman" pitchFamily="18" charset="0"/>
                <a:cs typeface="Times New Roman" pitchFamily="18" charset="0"/>
              </a:rPr>
              <a:t>showed a </a:t>
            </a:r>
            <a:r>
              <a:rPr lang="en-US" sz="2000" b="1" dirty="0" smtClean="0">
                <a:latin typeface="Times New Roman" pitchFamily="18" charset="0"/>
                <a:cs typeface="Times New Roman" pitchFamily="18" charset="0"/>
              </a:rPr>
              <a:t>60% reduction in hiring time</a:t>
            </a:r>
            <a:r>
              <a:rPr lang="en-US" sz="2000" dirty="0" smtClean="0">
                <a:latin typeface="Times New Roman" pitchFamily="18" charset="0"/>
                <a:cs typeface="Times New Roman" pitchFamily="18" charset="0"/>
              </a:rPr>
              <a:t> and improved decision-making through consistent, data-driven assessments. </a:t>
            </a:r>
            <a:endParaRPr lang="en-US" sz="2000" dirty="0" smtClean="0">
              <a:latin typeface="Times New Roman" pitchFamily="18" charset="0"/>
              <a:cs typeface="Times New Roman" pitchFamily="18" charset="0"/>
            </a:endParaRPr>
          </a:p>
          <a:p>
            <a:pPr algn="just">
              <a:lnSpc>
                <a:spcPct val="150000"/>
              </a:lnSpc>
            </a:pPr>
            <a:r>
              <a:rPr lang="en-US" sz="2000" dirty="0" smtClean="0">
                <a:latin typeface="Times New Roman" pitchFamily="18" charset="0"/>
                <a:cs typeface="Times New Roman" pitchFamily="18" charset="0"/>
              </a:rPr>
              <a:t>The </a:t>
            </a:r>
            <a:r>
              <a:rPr lang="en-US" sz="2000" dirty="0" smtClean="0">
                <a:latin typeface="Times New Roman" pitchFamily="18" charset="0"/>
                <a:cs typeface="Times New Roman" pitchFamily="18" charset="0"/>
              </a:rPr>
              <a:t>integration of AI and biometric tools demonstrated how technology can enhance fairness, security, and speed in recruitment, addressing long-standing challenges in traditional hiring processes.</a:t>
            </a:r>
          </a:p>
          <a:p>
            <a:pPr algn="just">
              <a:lnSpc>
                <a:spcPct val="150000"/>
              </a:lnSpc>
            </a:pPr>
            <a:endParaRPr lang="en-US" sz="2000" dirty="0">
              <a:latin typeface="Times New Roman" pitchFamily="18" charset="0"/>
              <a:cs typeface="Times New Roman"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8015"/>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CONCLUSION</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17431"/>
            <a:ext cx="10515600" cy="5434884"/>
          </a:xfrm>
        </p:spPr>
        <p:txBody>
          <a:bodyPr>
            <a:normAutofit lnSpcReduction="10000"/>
          </a:bodyPr>
          <a:lstStyle/>
          <a:p>
            <a:pPr algn="just">
              <a:lnSpc>
                <a:spcPct val="150000"/>
              </a:lnSpc>
            </a:pPr>
            <a:r>
              <a:rPr lang="en-US" sz="2000" dirty="0" smtClean="0">
                <a:latin typeface="Times New Roman" pitchFamily="18" charset="0"/>
                <a:cs typeface="Times New Roman" pitchFamily="18" charset="0"/>
              </a:rPr>
              <a:t>This AI-powered recruitment platform revolutionizes traditional hiring by combining automated resume analysis, intelligent questioning, and biometric verification for secure, efficient candidate evaluation. </a:t>
            </a:r>
          </a:p>
          <a:p>
            <a:pPr algn="just">
              <a:lnSpc>
                <a:spcPct val="150000"/>
              </a:lnSpc>
            </a:pPr>
            <a:r>
              <a:rPr lang="en-US" sz="2000" dirty="0" smtClean="0">
                <a:latin typeface="Times New Roman" pitchFamily="18" charset="0"/>
                <a:cs typeface="Times New Roman" pitchFamily="18" charset="0"/>
              </a:rPr>
              <a:t>By leveraging GPT-4 for dynamic Q&amp;A and real-time facial recognition for fraud detection, the system ensures accurate, bias-free assessments while significantly reducing screening time. </a:t>
            </a:r>
          </a:p>
          <a:p>
            <a:pPr algn="just">
              <a:lnSpc>
                <a:spcPct val="150000"/>
              </a:lnSpc>
            </a:pPr>
            <a:r>
              <a:rPr lang="en-US" sz="2000" dirty="0" smtClean="0">
                <a:latin typeface="Times New Roman" pitchFamily="18" charset="0"/>
                <a:cs typeface="Times New Roman" pitchFamily="18" charset="0"/>
              </a:rPr>
              <a:t>The adaptive feedback mechanism enhances candidate engagement, while automated alerts empower recruiters with actionable insights. </a:t>
            </a:r>
          </a:p>
          <a:p>
            <a:pPr algn="just">
              <a:lnSpc>
                <a:spcPct val="150000"/>
              </a:lnSpc>
            </a:pPr>
            <a:r>
              <a:rPr lang="en-US" sz="2000" dirty="0" smtClean="0">
                <a:latin typeface="Times New Roman" pitchFamily="18" charset="0"/>
                <a:cs typeface="Times New Roman" pitchFamily="18" charset="0"/>
              </a:rPr>
              <a:t>This end-to-end solution addresses key challenges in modern recruitment—scalability, security, and objectivity—making it ideal for enterprises, educational institutions, and certification bodies. </a:t>
            </a:r>
          </a:p>
          <a:p>
            <a:pPr algn="just">
              <a:lnSpc>
                <a:spcPct val="150000"/>
              </a:lnSpc>
            </a:pPr>
            <a:r>
              <a:rPr lang="en-US" sz="2000" dirty="0" smtClean="0">
                <a:latin typeface="Times New Roman" pitchFamily="18" charset="0"/>
                <a:cs typeface="Times New Roman" pitchFamily="18" charset="0"/>
              </a:rPr>
              <a:t>With its AI-driven automation and robust verification, the platform sets a new standard for fast, fair, and fraud-resistant hiring processes.</a:t>
            </a:r>
            <a:endParaRPr lang="en-US" sz="2000" dirty="0">
              <a:latin typeface="Times New Roman" pitchFamily="18" charset="0"/>
              <a:cs typeface="Times New Roman"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8015"/>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FUTURE ANALYSIS</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821488"/>
            <a:ext cx="10515600" cy="6036512"/>
          </a:xfrm>
        </p:spPr>
        <p:txBody>
          <a:bodyPr>
            <a:noAutofit/>
          </a:bodyPr>
          <a:lstStyle/>
          <a:p>
            <a:pPr algn="just">
              <a:lnSpc>
                <a:spcPct val="150000"/>
              </a:lnSpc>
            </a:pPr>
            <a:r>
              <a:rPr lang="en-US" sz="2000" dirty="0" smtClean="0">
                <a:latin typeface="Times New Roman" pitchFamily="18" charset="0"/>
                <a:cs typeface="Times New Roman" pitchFamily="18" charset="0"/>
              </a:rPr>
              <a:t>This AI recruitment platform has strong potential for expansion into automated skill validation through integration with coding simulators or LMS systems. </a:t>
            </a:r>
          </a:p>
          <a:p>
            <a:pPr algn="just">
              <a:lnSpc>
                <a:spcPct val="150000"/>
              </a:lnSpc>
            </a:pPr>
            <a:r>
              <a:rPr lang="en-US" sz="2000" dirty="0" smtClean="0">
                <a:latin typeface="Times New Roman" pitchFamily="18" charset="0"/>
                <a:cs typeface="Times New Roman" pitchFamily="18" charset="0"/>
              </a:rPr>
              <a:t>Future versions could incorporate voice/video analytics to assess communication skills and emotional intelligence. </a:t>
            </a:r>
          </a:p>
          <a:p>
            <a:pPr algn="just">
              <a:lnSpc>
                <a:spcPct val="150000"/>
              </a:lnSpc>
            </a:pPr>
            <a:r>
              <a:rPr lang="en-US" sz="2000" dirty="0" smtClean="0">
                <a:latin typeface="Times New Roman" pitchFamily="18" charset="0"/>
                <a:cs typeface="Times New Roman" pitchFamily="18" charset="0"/>
              </a:rPr>
              <a:t>With advances in multimodal AI, the system may evaluate candidates through VR-based situational tests. As regulations evolve, </a:t>
            </a:r>
            <a:r>
              <a:rPr lang="en-US" sz="2000" dirty="0" err="1" smtClean="0">
                <a:latin typeface="Times New Roman" pitchFamily="18" charset="0"/>
                <a:cs typeface="Times New Roman" pitchFamily="18" charset="0"/>
              </a:rPr>
              <a:t>blockchain</a:t>
            </a:r>
            <a:r>
              <a:rPr lang="en-US" sz="2000" dirty="0" smtClean="0">
                <a:latin typeface="Times New Roman" pitchFamily="18" charset="0"/>
                <a:cs typeface="Times New Roman" pitchFamily="18" charset="0"/>
              </a:rPr>
              <a:t> integration could ensure tamper-proof credential verification. </a:t>
            </a:r>
          </a:p>
          <a:p>
            <a:pPr algn="just">
              <a:lnSpc>
                <a:spcPct val="150000"/>
              </a:lnSpc>
            </a:pPr>
            <a:r>
              <a:rPr lang="en-US" sz="2000" dirty="0" smtClean="0">
                <a:latin typeface="Times New Roman" pitchFamily="18" charset="0"/>
                <a:cs typeface="Times New Roman" pitchFamily="18" charset="0"/>
              </a:rPr>
              <a:t>The growing demand for remote hiring tools positions this solution for global scalability, particularly in tech and BPO sectors. </a:t>
            </a:r>
          </a:p>
          <a:p>
            <a:pPr algn="just">
              <a:lnSpc>
                <a:spcPct val="150000"/>
              </a:lnSpc>
            </a:pPr>
            <a:r>
              <a:rPr lang="en-US" sz="2000" dirty="0" smtClean="0">
                <a:latin typeface="Times New Roman" pitchFamily="18" charset="0"/>
                <a:cs typeface="Times New Roman" pitchFamily="18" charset="0"/>
              </a:rPr>
              <a:t>However, maintaining ethical AI practices and bias mitigation will be critical as the system handles diverse candidate pools. Strategic partnerships with HR tech providers could accelerate market adoption.</a:t>
            </a:r>
            <a:endParaRPr lang="en-US" sz="2000" dirty="0">
              <a:latin typeface="Times New Roman" pitchFamily="18" charset="0"/>
              <a:cs typeface="Times New Roman"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8015"/>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REFERENCE</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821488"/>
            <a:ext cx="10515600" cy="6036512"/>
          </a:xfrm>
        </p:spPr>
        <p:txBody>
          <a:bodyPr>
            <a:noAutofit/>
          </a:bodyPr>
          <a:lstStyle/>
          <a:p>
            <a:pPr marL="457200" lvl="0" indent="-457200" algn="just">
              <a:lnSpc>
                <a:spcPct val="150000"/>
              </a:lnSpc>
              <a:buFont typeface="+mj-lt"/>
              <a:buAutoNum type="arabicPeriod"/>
            </a:pPr>
            <a:r>
              <a:rPr lang="en-US" sz="2000" dirty="0" smtClean="0">
                <a:latin typeface="Times New Roman" pitchFamily="18" charset="0"/>
                <a:cs typeface="Times New Roman" pitchFamily="18" charset="0"/>
              </a:rPr>
              <a:t>Si, J., Song, J., Woo, M., Kim, D., Lee, Y., &amp; Kim, S. (2023). Generative AI Models for Virtual Interviewers: Applicability and Performance Comparison. IEEE International Conference on Innovation, Communication and Engineering.</a:t>
            </a:r>
          </a:p>
          <a:p>
            <a:pPr marL="457200" lvl="0" indent="-457200" algn="just">
              <a:lnSpc>
                <a:spcPct val="150000"/>
              </a:lnSpc>
              <a:buFont typeface="+mj-lt"/>
              <a:buAutoNum type="arabicPeriod"/>
            </a:pPr>
            <a:r>
              <a:rPr lang="en-US" sz="2000" dirty="0" err="1" smtClean="0">
                <a:latin typeface="Times New Roman" pitchFamily="18" charset="0"/>
                <a:cs typeface="Times New Roman" pitchFamily="18" charset="0"/>
              </a:rPr>
              <a:t>Swaraj</a:t>
            </a:r>
            <a:r>
              <a:rPr lang="en-US" sz="2000" dirty="0" smtClean="0">
                <a:latin typeface="Times New Roman" pitchFamily="18" charset="0"/>
                <a:cs typeface="Times New Roman" pitchFamily="18" charset="0"/>
              </a:rPr>
              <a:t>, G., Kumar, B. N., </a:t>
            </a:r>
            <a:r>
              <a:rPr lang="en-US" sz="2000" dirty="0" err="1" smtClean="0">
                <a:latin typeface="Times New Roman" pitchFamily="18" charset="0"/>
                <a:cs typeface="Times New Roman" pitchFamily="18" charset="0"/>
              </a:rPr>
              <a:t>Himavanth</a:t>
            </a:r>
            <a:r>
              <a:rPr lang="en-US" sz="2000" dirty="0" smtClean="0">
                <a:latin typeface="Times New Roman" pitchFamily="18" charset="0"/>
                <a:cs typeface="Times New Roman" pitchFamily="18" charset="0"/>
              </a:rPr>
              <a:t>, B., Reddy, S. P., </a:t>
            </a:r>
            <a:r>
              <a:rPr lang="en-US" sz="2000" dirty="0" err="1" smtClean="0">
                <a:latin typeface="Times New Roman" pitchFamily="18" charset="0"/>
                <a:cs typeface="Times New Roman" pitchFamily="18" charset="0"/>
              </a:rPr>
              <a:t>Anoop</a:t>
            </a:r>
            <a:r>
              <a:rPr lang="en-US" sz="2000" dirty="0" smtClean="0">
                <a:latin typeface="Times New Roman" pitchFamily="18" charset="0"/>
                <a:cs typeface="Times New Roman" pitchFamily="18" charset="0"/>
              </a:rPr>
              <a:t>, S., &amp; </a:t>
            </a:r>
            <a:r>
              <a:rPr lang="en-US" sz="2000" dirty="0" err="1" smtClean="0">
                <a:latin typeface="Times New Roman" pitchFamily="18" charset="0"/>
                <a:cs typeface="Times New Roman" pitchFamily="18" charset="0"/>
              </a:rPr>
              <a:t>Jayasree</a:t>
            </a:r>
            <a:r>
              <a:rPr lang="en-US" sz="2000" dirty="0" smtClean="0">
                <a:latin typeface="Times New Roman" pitchFamily="18" charset="0"/>
                <a:cs typeface="Times New Roman" pitchFamily="18" charset="0"/>
              </a:rPr>
              <a:t>, K. R. (2023). An Interactive Interview </a:t>
            </a:r>
            <a:r>
              <a:rPr lang="en-US" sz="2000" dirty="0" err="1" smtClean="0">
                <a:latin typeface="Times New Roman" pitchFamily="18" charset="0"/>
                <a:cs typeface="Times New Roman" pitchFamily="18" charset="0"/>
              </a:rPr>
              <a:t>Bot</a:t>
            </a:r>
            <a:r>
              <a:rPr lang="en-US" sz="2000" dirty="0" smtClean="0">
                <a:latin typeface="Times New Roman" pitchFamily="18" charset="0"/>
                <a:cs typeface="Times New Roman" pitchFamily="18" charset="0"/>
              </a:rPr>
              <a:t> for Human Resource Interviewing. 14th International Conference on Computing Communication and Networking Technologies (ICCCNT).</a:t>
            </a:r>
          </a:p>
          <a:p>
            <a:pPr marL="457200" lvl="0" indent="-457200" algn="just">
              <a:lnSpc>
                <a:spcPct val="150000"/>
              </a:lnSpc>
              <a:buFont typeface="+mj-lt"/>
              <a:buAutoNum type="arabicPeriod"/>
            </a:pPr>
            <a:r>
              <a:rPr lang="en-US" sz="2000" dirty="0" err="1" smtClean="0">
                <a:latin typeface="Times New Roman" pitchFamily="18" charset="0"/>
                <a:cs typeface="Times New Roman" pitchFamily="18" charset="0"/>
              </a:rPr>
              <a:t>Dissanayake</a:t>
            </a:r>
            <a:r>
              <a:rPr lang="en-US" sz="2000" dirty="0" smtClean="0">
                <a:latin typeface="Times New Roman" pitchFamily="18" charset="0"/>
                <a:cs typeface="Times New Roman" pitchFamily="18" charset="0"/>
              </a:rPr>
              <a:t>, D. Y., </a:t>
            </a:r>
            <a:r>
              <a:rPr lang="en-US" sz="2000" dirty="0" err="1" smtClean="0">
                <a:latin typeface="Times New Roman" pitchFamily="18" charset="0"/>
                <a:cs typeface="Times New Roman" pitchFamily="18" charset="0"/>
              </a:rPr>
              <a:t>Amalya</a:t>
            </a:r>
            <a:r>
              <a:rPr lang="en-US" sz="2000" dirty="0" smtClean="0">
                <a:latin typeface="Times New Roman" pitchFamily="18" charset="0"/>
                <a:cs typeface="Times New Roman" pitchFamily="18" charset="0"/>
              </a:rPr>
              <a:t>, V., </a:t>
            </a:r>
            <a:r>
              <a:rPr lang="en-US" sz="2000" dirty="0" err="1" smtClean="0">
                <a:latin typeface="Times New Roman" pitchFamily="18" charset="0"/>
                <a:cs typeface="Times New Roman" pitchFamily="18" charset="0"/>
              </a:rPr>
              <a:t>Dissanayaka</a:t>
            </a:r>
            <a:r>
              <a:rPr lang="en-US" sz="2000" dirty="0" smtClean="0">
                <a:latin typeface="Times New Roman" pitchFamily="18" charset="0"/>
                <a:cs typeface="Times New Roman" pitchFamily="18" charset="0"/>
              </a:rPr>
              <a:t>, R., </a:t>
            </a:r>
            <a:r>
              <a:rPr lang="en-US" sz="2000" dirty="0" err="1" smtClean="0">
                <a:latin typeface="Times New Roman" pitchFamily="18" charset="0"/>
                <a:cs typeface="Times New Roman" pitchFamily="18" charset="0"/>
              </a:rPr>
              <a:t>Lakshan</a:t>
            </a:r>
            <a:r>
              <a:rPr lang="en-US" sz="2000" dirty="0" smtClean="0">
                <a:latin typeface="Times New Roman" pitchFamily="18" charset="0"/>
                <a:cs typeface="Times New Roman" pitchFamily="18" charset="0"/>
              </a:rPr>
              <a:t>, L., </a:t>
            </a:r>
            <a:r>
              <a:rPr lang="en-US" sz="2000" dirty="0" err="1" smtClean="0">
                <a:latin typeface="Times New Roman" pitchFamily="18" charset="0"/>
                <a:cs typeface="Times New Roman" pitchFamily="18" charset="0"/>
              </a:rPr>
              <a:t>Samarasinghe</a:t>
            </a:r>
            <a:r>
              <a:rPr lang="en-US" sz="2000" dirty="0" smtClean="0">
                <a:latin typeface="Times New Roman" pitchFamily="18" charset="0"/>
                <a:cs typeface="Times New Roman" pitchFamily="18" charset="0"/>
              </a:rPr>
              <a:t>, P., </a:t>
            </a:r>
            <a:r>
              <a:rPr lang="en-US" sz="2000" dirty="0" err="1" smtClean="0">
                <a:latin typeface="Times New Roman" pitchFamily="18" charset="0"/>
                <a:cs typeface="Times New Roman" pitchFamily="18" charset="0"/>
              </a:rPr>
              <a:t>Nadeeshani</a:t>
            </a:r>
            <a:r>
              <a:rPr lang="en-US" sz="2000" dirty="0" smtClean="0">
                <a:latin typeface="Times New Roman" pitchFamily="18" charset="0"/>
                <a:cs typeface="Times New Roman" pitchFamily="18" charset="0"/>
              </a:rPr>
              <a:t>, M., &amp; </a:t>
            </a:r>
            <a:r>
              <a:rPr lang="en-US" sz="2000" dirty="0" err="1" smtClean="0">
                <a:latin typeface="Times New Roman" pitchFamily="18" charset="0"/>
                <a:cs typeface="Times New Roman" pitchFamily="18" charset="0"/>
              </a:rPr>
              <a:t>Samarasinghe</a:t>
            </a:r>
            <a:r>
              <a:rPr lang="en-US" sz="2000" dirty="0" smtClean="0">
                <a:latin typeface="Times New Roman" pitchFamily="18" charset="0"/>
                <a:cs typeface="Times New Roman" pitchFamily="18" charset="0"/>
              </a:rPr>
              <a:t>, P. (2021). AI-based </a:t>
            </a:r>
            <a:r>
              <a:rPr lang="en-US" sz="2000" dirty="0" err="1" smtClean="0">
                <a:latin typeface="Times New Roman" pitchFamily="18" charset="0"/>
                <a:cs typeface="Times New Roman" pitchFamily="18" charset="0"/>
              </a:rPr>
              <a:t>Behavioural</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Analyser</a:t>
            </a:r>
            <a:r>
              <a:rPr lang="en-US" sz="2000" dirty="0" smtClean="0">
                <a:latin typeface="Times New Roman" pitchFamily="18" charset="0"/>
                <a:cs typeface="Times New Roman" pitchFamily="18" charset="0"/>
              </a:rPr>
              <a:t> for Interviews/Viva. 16th International Conference on Industrial and Information Systems (ICIIS).</a:t>
            </a:r>
          </a:p>
          <a:p>
            <a:pPr marL="457200" lvl="0" indent="-457200" algn="just">
              <a:lnSpc>
                <a:spcPct val="150000"/>
              </a:lnSpc>
              <a:buFont typeface="+mj-lt"/>
              <a:buAutoNum type="arabicPeriod"/>
            </a:pPr>
            <a:r>
              <a:rPr lang="en-US" sz="2000" dirty="0" smtClean="0">
                <a:latin typeface="Times New Roman" pitchFamily="18" charset="0"/>
                <a:cs typeface="Times New Roman" pitchFamily="18" charset="0"/>
              </a:rPr>
              <a:t>Jin, X., </a:t>
            </a:r>
            <a:r>
              <a:rPr lang="en-US" sz="2000" dirty="0" err="1" smtClean="0">
                <a:latin typeface="Times New Roman" pitchFamily="18" charset="0"/>
                <a:cs typeface="Times New Roman" pitchFamily="18" charset="0"/>
              </a:rPr>
              <a:t>Bian</a:t>
            </a:r>
            <a:r>
              <a:rPr lang="en-US" sz="2000" dirty="0" smtClean="0">
                <a:latin typeface="Times New Roman" pitchFamily="18" charset="0"/>
                <a:cs typeface="Times New Roman" pitchFamily="18" charset="0"/>
              </a:rPr>
              <a:t>, Y., </a:t>
            </a:r>
            <a:r>
              <a:rPr lang="en-US" sz="2000" dirty="0" err="1" smtClean="0">
                <a:latin typeface="Times New Roman" pitchFamily="18" charset="0"/>
                <a:cs typeface="Times New Roman" pitchFamily="18" charset="0"/>
              </a:rPr>
              <a:t>Geng</a:t>
            </a:r>
            <a:r>
              <a:rPr lang="en-US" sz="2000" dirty="0" smtClean="0">
                <a:latin typeface="Times New Roman" pitchFamily="18" charset="0"/>
                <a:cs typeface="Times New Roman" pitchFamily="18" charset="0"/>
              </a:rPr>
              <a:t>, W., Chen, Y., Chu, K., </a:t>
            </a:r>
            <a:r>
              <a:rPr lang="en-US" sz="2000" dirty="0" err="1" smtClean="0">
                <a:latin typeface="Times New Roman" pitchFamily="18" charset="0"/>
                <a:cs typeface="Times New Roman" pitchFamily="18" charset="0"/>
              </a:rPr>
              <a:t>Hu</a:t>
            </a:r>
            <a:r>
              <a:rPr lang="en-US" sz="2000" dirty="0" smtClean="0">
                <a:latin typeface="Times New Roman" pitchFamily="18" charset="0"/>
                <a:cs typeface="Times New Roman" pitchFamily="18" charset="0"/>
              </a:rPr>
              <a:t>, H., Liu, J., Shi, Y., &amp; Yang, C. (2019). Developing an Agent-based Virtual Interview Training System for College Students with High Shyness Level. IEEE Conference on Virtual Reality and 3D User Interfaces.</a:t>
            </a:r>
          </a:p>
          <a:p>
            <a:pPr algn="just">
              <a:lnSpc>
                <a:spcPct val="150000"/>
              </a:lnSpc>
            </a:pPr>
            <a:endParaRPr lang="en-US" sz="20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